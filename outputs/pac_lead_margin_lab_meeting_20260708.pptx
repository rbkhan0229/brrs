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0A3EB6-F40D-4D5D-877D-91B755971355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953437-C8C9-4874-A9A0-6BDB52360F13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7239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98000"/>
              </a:lnSpc>
              <a:buNone/>
              <a:defRPr sz="4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짧은 프리앰블에서</a:t>
            </a:r>
          </a:p>
          <a:p>
            <a:pPr algn="l">
              <a:lnSpc>
                <a:spcPct val="98000"/>
              </a:lnSpc>
              <a:buNone/>
              <a:defRPr sz="4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 margin이 중요한 이유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5FE8A8-D983-4F79-B0C3-901AE2DC21C6}"/>
              </a:ext>
            </a:extLst>
          </p:cNvPr>
          <p:cNvSpPr>
            <a:spLocks noGrp="1"/>
          </p:cNvSpPr>
          <p:nvPr/>
        </p:nvSpPr>
        <p:spPr>
          <a:xfrm>
            <a:off x="552450" y="356235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tail margin 배제, accumCount 재분석, PAC8 주기성 기반 해석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5980D2-0A08-40DA-81AF-DF93BE8B31E8}"/>
              </a:ext>
            </a:extLst>
          </p:cNvPr>
          <p:cNvSpPr>
            <a:spLocks noGrp="1"/>
          </p:cNvSpPr>
          <p:nvPr/>
        </p:nvSpPr>
        <p:spPr>
          <a:xfrm>
            <a:off x="7315200" y="914399"/>
            <a:ext cx="3880884" cy="5276851"/>
          </a:xfrm>
          <a:prstGeom prst="rect">
            <a:avLst/>
          </a:prstGeom>
          <a:solidFill>
            <a:srgbClr val="F3F4F6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ABABE4-6E02-4D98-8C46-1C9B7CF0CA33}"/>
              </a:ext>
            </a:extLst>
          </p:cNvPr>
          <p:cNvSpPr>
            <a:spLocks noGrp="1"/>
          </p:cNvSpPr>
          <p:nvPr/>
        </p:nvSpPr>
        <p:spPr>
          <a:xfrm>
            <a:off x="8705850" y="12573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핵심 주장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922FA6-AE1F-4856-A611-901EFAEBC623}"/>
              </a:ext>
            </a:extLst>
          </p:cNvPr>
          <p:cNvSpPr>
            <a:spLocks noGrp="1"/>
          </p:cNvSpPr>
          <p:nvPr/>
        </p:nvSpPr>
        <p:spPr>
          <a:xfrm>
            <a:off x="7464056" y="1771649"/>
            <a:ext cx="3337294" cy="4171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20000"/>
              </a:lnSpc>
              <a:buNone/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프레임이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늦게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도착해서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실패한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것이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lang="en-US" altLang="ko-KR"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(tail margin</a:t>
            </a:r>
            <a:r>
              <a:rPr lang="ko-KR" altLang="en-US"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 의미 없는 이유</a:t>
            </a:r>
            <a:r>
              <a:rPr lang="en-US" altLang="ko-KR"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,</a:t>
            </a:r>
          </a:p>
          <a:p>
            <a:pPr algn="l">
              <a:lnSpc>
                <a:spcPct val="120000"/>
              </a:lnSpc>
              <a:buNone/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RX가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실제로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청취를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시작하기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전의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공백</a:t>
            </a:r>
            <a:r>
              <a:rPr lang="en-US" altLang="ko-KR"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(</a:t>
            </a:r>
            <a:r>
              <a:rPr lang="ko-KR" altLang="en-US" sz="1875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제조사에서 공개하지 않는 로딩시간</a:t>
            </a:r>
            <a:r>
              <a:rPr lang="en-US" altLang="ko-KR"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과</a:t>
            </a:r>
            <a:endParaRPr sz="1875" b="1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20000"/>
              </a:lnSpc>
              <a:buNone/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PAC8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정렬이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짧은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프리앰블을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잠식한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것으로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보인다</a:t>
            </a:r>
            <a:r>
              <a:rPr sz="18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0CFE73-FD1B-459C-8C8E-74BFB0074CA5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2026.07.08</a:t>
            </a:r>
          </a:p>
        </p:txBody>
      </p:sp>
    </p:spTree>
    <p:extLst>
      <p:ext uri="{BB962C8B-B14F-4D97-AF65-F5344CB8AC3E}">
        <p14:creationId xmlns:p14="http://schemas.microsoft.com/office/powerpoint/2010/main" val="212321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1B5F9C3-F42F-4E14-96D2-0CBFAB612342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 분석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BB80C4-6ACE-4F7D-AFAC-D6998B880E2D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확인하려는 질문은 하나다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722DD1A-99E9-40B5-BF19-504BAB616051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97B072-B265-4AC4-8C75-83C5615F4C97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3333750" cy="3048000"/>
          </a:xfrm>
          <a:prstGeom prst="rect">
            <a:avLst/>
          </a:prstGeom>
          <a:solidFill>
            <a:srgbClr val="F3F4F6"/>
          </a:solidFill>
          <a:ln w="9525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4C9996-4BDD-4573-9FB2-AD2E5BD3708F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관찰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33C28E-BE26-4B04-8A6A-D2F2500807FC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29146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32sym은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조건에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따라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PER이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크게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흔들리고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, 64sym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이상은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비교적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안정적이었다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7D5EFC-17C2-4D79-94BC-5C83A4D5DE16}"/>
              </a:ext>
            </a:extLst>
          </p:cNvPr>
          <p:cNvSpPr>
            <a:spLocks noGrp="1"/>
          </p:cNvSpPr>
          <p:nvPr/>
        </p:nvSpPr>
        <p:spPr>
          <a:xfrm>
            <a:off x="4429125" y="1638300"/>
            <a:ext cx="3333750" cy="3048000"/>
          </a:xfrm>
          <a:prstGeom prst="rect">
            <a:avLst/>
          </a:prstGeom>
          <a:solidFill>
            <a:srgbClr val="E8F2FB"/>
          </a:solidFill>
          <a:ln w="9525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D4FF70-E80F-4919-8F70-EAD86C0A02D9}"/>
              </a:ext>
            </a:extLst>
          </p:cNvPr>
          <p:cNvSpPr>
            <a:spLocks noGrp="1"/>
          </p:cNvSpPr>
          <p:nvPr/>
        </p:nvSpPr>
        <p:spPr>
          <a:xfrm>
            <a:off x="4638675" y="18097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가설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74D09C-71AA-4BBA-B7E7-2E01B3194A5E}"/>
              </a:ext>
            </a:extLst>
          </p:cNvPr>
          <p:cNvSpPr>
            <a:spLocks noGrp="1"/>
          </p:cNvSpPr>
          <p:nvPr/>
        </p:nvSpPr>
        <p:spPr>
          <a:xfrm>
            <a:off x="4638675" y="2171700"/>
            <a:ext cx="29146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프리앰블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길이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자체보다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청취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시작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위치와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PAC grid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위상이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성능을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결정한다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502489-571D-46FD-B15B-16F0DCE48FE5}"/>
              </a:ext>
            </a:extLst>
          </p:cNvPr>
          <p:cNvSpPr>
            <a:spLocks noGrp="1"/>
          </p:cNvSpPr>
          <p:nvPr/>
        </p:nvSpPr>
        <p:spPr>
          <a:xfrm>
            <a:off x="8191500" y="1638300"/>
            <a:ext cx="3333750" cy="3048000"/>
          </a:xfrm>
          <a:prstGeom prst="rect">
            <a:avLst/>
          </a:prstGeom>
          <a:solidFill>
            <a:srgbClr val="EAF4DD"/>
          </a:solidFill>
          <a:ln w="9525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E69102-88E6-447D-803D-1CED74C6ACBA}"/>
              </a:ext>
            </a:extLst>
          </p:cNvPr>
          <p:cNvSpPr>
            <a:spLocks noGrp="1"/>
          </p:cNvSpPr>
          <p:nvPr/>
        </p:nvSpPr>
        <p:spPr>
          <a:xfrm>
            <a:off x="8401050" y="18097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EA90E9-1F5C-4C43-904E-A5EAD8B475EE}"/>
              </a:ext>
            </a:extLst>
          </p:cNvPr>
          <p:cNvSpPr>
            <a:spLocks noGrp="1"/>
          </p:cNvSpPr>
          <p:nvPr/>
        </p:nvSpPr>
        <p:spPr>
          <a:xfrm>
            <a:off x="8401050" y="2171700"/>
            <a:ext cx="29146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tail margin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문제가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lead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margin과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accumCount</a:t>
            </a:r>
            <a:r>
              <a:rPr lang="en-US" altLang="ko-KR"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(</a:t>
            </a:r>
            <a:r>
              <a:rPr lang="en-US" altLang="ko-KR"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cir</a:t>
            </a:r>
            <a:r>
              <a:rPr lang="en-US" altLang="ko-KR"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누산에</a:t>
            </a:r>
            <a:r>
              <a:rPr lang="ko-KR" altLang="en-US"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사용된 심볼 수</a:t>
            </a:r>
            <a:r>
              <a:rPr lang="en-US" altLang="ko-KR"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변화로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설명되는지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확인한다</a:t>
            </a:r>
            <a:r>
              <a:rPr sz="16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363F77-BDAC-4193-BD9C-0B624A2FE8D1}"/>
              </a:ext>
            </a:extLst>
          </p:cNvPr>
          <p:cNvSpPr>
            <a:spLocks noGrp="1"/>
          </p:cNvSpPr>
          <p:nvPr/>
        </p:nvSpPr>
        <p:spPr>
          <a:xfrm>
            <a:off x="819150" y="5391149"/>
            <a:ext cx="10572750" cy="8572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lnSpc>
                <a:spcPct val="118000"/>
              </a:lnSpc>
              <a:buNone/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이번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자료의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결론은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‘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lead를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크게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주자’가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왜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lead가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필요한지와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어디까지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줄일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수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있는지를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  <a:endParaRPr sz="1950" b="1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1D3DB1-24B3-4809-B9C9-2AA4868DF63D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lnSpc>
                <a:spcPct val="118000"/>
              </a:lnSpc>
              <a:buNone/>
              <a:def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4907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7010B68-CDBD-44DE-964E-FCE2DC2ABE66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 분석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A1EB0C-0E81-4B74-9A48-48535AABE9E5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KR"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배경설명</a:t>
            </a:r>
            <a:r>
              <a:rPr lang="en-US" altLang="ko-KR"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수신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창은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RMARKER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기준으로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앞당겨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예약한다</a:t>
            </a:r>
            <a:endParaRPr sz="2700" b="1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CCB451C-3D8E-498A-B982-E30BDFE00021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7F35B-A4CF-41F3-A386-18EDFFE717EA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코드 기준 시간 정의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10CEAB-EAA3-427D-93CB-27E09F5CC3DA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5143500" cy="30480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D390EC-05F8-4A66-A8E9-945BF21E863B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6482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517" lnSpcReduction="10000"/>
          </a:bodyPr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MY_SLOT_START_US = SYNC_BUFFER_US + (seq - 1) * SLOT_INTERVAL_US</a:t>
            </a:r>
          </a:p>
          <a:p>
            <a:endParaRPr sz="1500" b="0" dirty="0">
              <a:solidFill>
                <a:srgbClr val="FFFFFF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32sym N2 </a:t>
            </a:r>
            <a:r>
              <a:rPr sz="1500" b="0" dirty="0" err="1">
                <a:solidFill>
                  <a:srgbClr val="FFFFFF"/>
                </a:solidFill>
                <a:latin typeface="Menlo"/>
                <a:ea typeface="Menlo"/>
                <a:cs typeface="Menlo"/>
              </a:rPr>
              <a:t>기준</a:t>
            </a:r>
            <a:r>
              <a:rPr sz="1500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: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MY_SLOT_START_US = 3000 + (2 - 1) * 717 = 3717 us</a:t>
            </a:r>
          </a:p>
          <a:p>
            <a:endParaRPr sz="1500" b="0" dirty="0">
              <a:solidFill>
                <a:srgbClr val="FFFFFF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RX_ON </a:t>
            </a:r>
            <a:r>
              <a:rPr sz="1500" b="0" dirty="0" err="1">
                <a:solidFill>
                  <a:srgbClr val="FFFFFF"/>
                </a:solidFill>
                <a:latin typeface="Menlo"/>
                <a:ea typeface="Menlo"/>
                <a:cs typeface="Menlo"/>
              </a:rPr>
              <a:t>예약</a:t>
            </a:r>
            <a:r>
              <a:rPr sz="1500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: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dirty="0" err="1">
                <a:solidFill>
                  <a:srgbClr val="FFFFFF"/>
                </a:solidFill>
                <a:latin typeface="Menlo"/>
                <a:ea typeface="Menlo"/>
                <a:cs typeface="Menlo"/>
              </a:rPr>
              <a:t>slot_offset_us</a:t>
            </a:r>
            <a:r>
              <a:rPr sz="1500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= 3000 + 1 * 717 - RX_EARLY_US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RX_EARLY_US = PREAMBLE_US + SFD_US</a:t>
            </a:r>
            <a:r>
              <a:rPr lang="en-KR" sz="1500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altLang="ko-KR" sz="1500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+ lead</a:t>
            </a:r>
            <a:endParaRPr lang="en-US" sz="1500" dirty="0">
              <a:solidFill>
                <a:srgbClr val="FFFFFF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endParaRPr lang="en-US" sz="1500" b="0" dirty="0">
              <a:solidFill>
                <a:srgbClr val="FFFFFF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FD694-037F-4F15-B670-2B7555C7840F}"/>
              </a:ext>
            </a:extLst>
          </p:cNvPr>
          <p:cNvSpPr>
            <a:spLocks noGrp="1"/>
          </p:cNvSpPr>
          <p:nvPr/>
        </p:nvSpPr>
        <p:spPr>
          <a:xfrm>
            <a:off x="6477000" y="16002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해석 포인트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69B3CC-5FF5-4EEE-BCBF-D38B34A5FDCC}"/>
              </a:ext>
            </a:extLst>
          </p:cNvPr>
          <p:cNvSpPr>
            <a:spLocks noGrp="1"/>
          </p:cNvSpPr>
          <p:nvPr/>
        </p:nvSpPr>
        <p:spPr>
          <a:xfrm>
            <a:off x="6477000" y="203835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RMARKER는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데이터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프레임의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기준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시각이다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pPr algn="l">
              <a:lnSpc>
                <a:spcPct val="118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RX는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RMARKER에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딱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맞춰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켜는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것이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, preamble/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SFD를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잡기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위해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그보다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일찍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켠다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pPr algn="l">
              <a:lnSpc>
                <a:spcPct val="118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lead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margin은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RX_ON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예약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시각을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더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앞으로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당긴다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pPr algn="l">
              <a:lnSpc>
                <a:spcPct val="118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tail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margin은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이미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검출이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시작된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뒤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뒤쪽을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더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오래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열어두는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역할이다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708DE5-0D29-415B-85CD-750FB4273BAF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lnSpc>
                <a:spcPct val="118000"/>
              </a:lnSpc>
              <a:buNone/>
              <a:def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3891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5FAAECA-D78A-4B0E-B805-BAB6ACCE0730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 분석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C04AAF-B07E-4263-BAA2-D66EDA227A0C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PER </a:t>
            </a:r>
            <a:r>
              <a:rPr lang="en-US"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원인</a:t>
            </a:r>
            <a:r>
              <a:rPr lang="en-US"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분석</a:t>
            </a:r>
            <a:r>
              <a:rPr lang="en-US" altLang="ko-KR"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tail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margin은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이번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실패의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주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원인으로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보이지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않는다</a:t>
            </a:r>
            <a:endParaRPr sz="2700" b="1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31DA7A2-D314-41B8-AACD-7691F46CD3D3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EFA61D-4BD8-4AF8-B7D4-206B289700C7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7239000" cy="62865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6235A4-5E88-4455-8CE0-5826224E2F2D}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147447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근거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85278728-BE12-46EB-97F6-087B6672321C}"/>
              </a:ext>
            </a:extLst>
          </p:cNvPr>
          <p:cNvSpPr>
            <a:spLocks noGrp="1"/>
          </p:cNvSpPr>
          <p:nvPr/>
        </p:nvSpPr>
        <p:spPr>
          <a:xfrm>
            <a:off x="2331720" y="1676400"/>
            <a:ext cx="0" cy="6286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A14010-8710-4E29-AA7E-1D0E159F5362}"/>
              </a:ext>
            </a:extLst>
          </p:cNvPr>
          <p:cNvSpPr>
            <a:spLocks noGrp="1"/>
          </p:cNvSpPr>
          <p:nvPr/>
        </p:nvSpPr>
        <p:spPr>
          <a:xfrm>
            <a:off x="2426970" y="17526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관찰값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30E308D6-4FDD-4645-896C-970DC6A5988A}"/>
              </a:ext>
            </a:extLst>
          </p:cNvPr>
          <p:cNvSpPr>
            <a:spLocks noGrp="1"/>
          </p:cNvSpPr>
          <p:nvPr/>
        </p:nvSpPr>
        <p:spPr>
          <a:xfrm>
            <a:off x="4141470" y="1676400"/>
            <a:ext cx="0" cy="6286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396053-EA69-430C-AFF2-524ED13E41F5}"/>
              </a:ext>
            </a:extLst>
          </p:cNvPr>
          <p:cNvSpPr>
            <a:spLocks noGrp="1"/>
          </p:cNvSpPr>
          <p:nvPr/>
        </p:nvSpPr>
        <p:spPr>
          <a:xfrm>
            <a:off x="4236720" y="1752600"/>
            <a:ext cx="357378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의미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9CD0A8-94A6-4705-A19C-92C2659C30FD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7239000" cy="628650"/>
          </a:xfrm>
          <a:prstGeom prst="rect">
            <a:avLst/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B08977-E9FE-4489-B3B1-87E0F04CA6F7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147447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UWB offset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416E988-634A-49BD-A159-1F76656ADCB1}"/>
              </a:ext>
            </a:extLst>
          </p:cNvPr>
          <p:cNvSpPr>
            <a:spLocks noGrp="1"/>
          </p:cNvSpPr>
          <p:nvPr/>
        </p:nvSpPr>
        <p:spPr>
          <a:xfrm>
            <a:off x="2331720" y="2305050"/>
            <a:ext cx="0" cy="6286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7A1E0F-1930-41C2-8891-B19B8F26C941}"/>
              </a:ext>
            </a:extLst>
          </p:cNvPr>
          <p:cNvSpPr>
            <a:spLocks noGrp="1"/>
          </p:cNvSpPr>
          <p:nvPr/>
        </p:nvSpPr>
        <p:spPr>
          <a:xfrm>
            <a:off x="2426970" y="238125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2884" lnSpcReduction="10000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min=max=avg</a:t>
            </a:r>
            <a:endParaRPr lang="en-US" sz="135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altLang="ko-KR" sz="135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(</a:t>
            </a:r>
            <a:r>
              <a:rPr lang="ko-KR" altLang="en-US" sz="135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예</a:t>
            </a:r>
            <a:r>
              <a:rPr lang="en-US" altLang="ko-KR" sz="135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: 32sym</a:t>
            </a:r>
            <a:r>
              <a:rPr lang="ko-KR" altLang="en-US" sz="135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에서는 </a:t>
            </a:r>
            <a:r>
              <a:rPr lang="en-US" altLang="ko-KR" sz="135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3717us)</a:t>
            </a:r>
            <a:endParaRPr sz="135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174B3D5-54CD-4131-B901-0CD2D5A8F10E}"/>
              </a:ext>
            </a:extLst>
          </p:cNvPr>
          <p:cNvSpPr>
            <a:spLocks noGrp="1"/>
          </p:cNvSpPr>
          <p:nvPr/>
        </p:nvSpPr>
        <p:spPr>
          <a:xfrm>
            <a:off x="4141470" y="2305050"/>
            <a:ext cx="0" cy="6286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26BC0A-D9B5-440B-AB95-6CAB0C8154C3}"/>
              </a:ext>
            </a:extLst>
          </p:cNvPr>
          <p:cNvSpPr>
            <a:spLocks noGrp="1"/>
          </p:cNvSpPr>
          <p:nvPr/>
        </p:nvSpPr>
        <p:spPr>
          <a:xfrm>
            <a:off x="4236720" y="2381250"/>
            <a:ext cx="357378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lnSpcReduction="10000"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KR" sz="1350" dirty="0"/>
              <a:t>지난 미팅 실험에서 preamble 32~256sym에서</a:t>
            </a:r>
          </a:p>
          <a:p>
            <a:pPr>
              <a:lnSpc>
                <a:spcPct val="105000"/>
              </a:lnSpc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DATA RMARKER </a:t>
            </a: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도착</a:t>
            </a: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시각이</a:t>
            </a: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흔들리지</a:t>
            </a: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않음</a:t>
            </a:r>
            <a:endParaRPr sz="135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CD6764-53E0-4020-917B-4E82750F2476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72390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8840CD-844E-4EE9-9ECB-FB32C5551CAB}"/>
              </a:ext>
            </a:extLst>
          </p:cNvPr>
          <p:cNvSpPr>
            <a:spLocks noGrp="1"/>
          </p:cNvSpPr>
          <p:nvPr/>
        </p:nvSpPr>
        <p:spPr>
          <a:xfrm>
            <a:off x="762000" y="3009900"/>
            <a:ext cx="147447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 lnSpcReduction="10000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tail-only</a:t>
            </a:r>
            <a:r>
              <a:rPr lang="en-US" sz="13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  <a:p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sz="13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(tail </a:t>
            </a:r>
            <a:r>
              <a:rPr lang="en-US" sz="13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margin만</a:t>
            </a:r>
            <a:r>
              <a:rPr lang="en-US" sz="13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13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100us)</a:t>
            </a:r>
            <a:endParaRPr sz="1350" b="1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0D1CD1F-2A9B-4A3F-818C-B33D1437D6AD}"/>
              </a:ext>
            </a:extLst>
          </p:cNvPr>
          <p:cNvSpPr>
            <a:spLocks noGrp="1"/>
          </p:cNvSpPr>
          <p:nvPr/>
        </p:nvSpPr>
        <p:spPr>
          <a:xfrm>
            <a:off x="2331720" y="2933700"/>
            <a:ext cx="0" cy="6286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843CA7-A924-458A-BFC8-22EAAB939098}"/>
              </a:ext>
            </a:extLst>
          </p:cNvPr>
          <p:cNvSpPr>
            <a:spLocks noGrp="1"/>
          </p:cNvSpPr>
          <p:nvPr/>
        </p:nvSpPr>
        <p:spPr>
          <a:xfrm>
            <a:off x="2426970" y="30099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884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PER 100%, fwto=1000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028892-583E-4FC2-A6F9-24A723E7B186}"/>
              </a:ext>
            </a:extLst>
          </p:cNvPr>
          <p:cNvSpPr>
            <a:spLocks noGrp="1"/>
          </p:cNvSpPr>
          <p:nvPr/>
        </p:nvSpPr>
        <p:spPr>
          <a:xfrm>
            <a:off x="4141470" y="2933700"/>
            <a:ext cx="0" cy="6286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D8F56C-29F0-413D-8717-4DF76F40DB76}"/>
              </a:ext>
            </a:extLst>
          </p:cNvPr>
          <p:cNvSpPr>
            <a:spLocks noGrp="1"/>
          </p:cNvSpPr>
          <p:nvPr/>
        </p:nvSpPr>
        <p:spPr>
          <a:xfrm>
            <a:off x="4236720" y="3009900"/>
            <a:ext cx="357378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뒤쪽</a:t>
            </a: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부족이</a:t>
            </a: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시작</a:t>
            </a: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</a:t>
            </a: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검출</a:t>
            </a: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실패</a:t>
            </a:r>
            <a:endParaRPr sz="135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C83849-C93B-4CD5-BCE7-65350211145E}"/>
              </a:ext>
            </a:extLst>
          </p:cNvPr>
          <p:cNvSpPr>
            <a:spLocks noGrp="1"/>
          </p:cNvSpPr>
          <p:nvPr/>
        </p:nvSpPr>
        <p:spPr>
          <a:xfrm>
            <a:off x="666750" y="3562350"/>
            <a:ext cx="7239000" cy="628650"/>
          </a:xfrm>
          <a:prstGeom prst="rect">
            <a:avLst/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8768BB-18BE-4903-91A9-16D39A24CAB8}"/>
              </a:ext>
            </a:extLst>
          </p:cNvPr>
          <p:cNvSpPr>
            <a:spLocks noGrp="1"/>
          </p:cNvSpPr>
          <p:nvPr/>
        </p:nvSpPr>
        <p:spPr>
          <a:xfrm>
            <a:off x="762000" y="3638550"/>
            <a:ext cx="147447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 lnSpcReduction="10000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lead-only</a:t>
            </a:r>
            <a:endParaRPr lang="en-US" sz="1350" b="1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05000"/>
              </a:lnSpc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sz="13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(tail margin</a:t>
            </a:r>
            <a:r>
              <a:rPr lang="ko-KR" altLang="en-US" sz="13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만 </a:t>
            </a:r>
            <a:r>
              <a:rPr lang="en-US" altLang="ko-KR" sz="13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100us)</a:t>
            </a:r>
            <a:endParaRPr lang="en-US" sz="1350" b="1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A1A8E8B6-B7CE-4FF2-8CAD-7AA902630B6C}"/>
              </a:ext>
            </a:extLst>
          </p:cNvPr>
          <p:cNvSpPr>
            <a:spLocks noGrp="1"/>
          </p:cNvSpPr>
          <p:nvPr/>
        </p:nvSpPr>
        <p:spPr>
          <a:xfrm>
            <a:off x="2331720" y="3562350"/>
            <a:ext cx="0" cy="6286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79B386-2DEA-4600-89D5-71617BC33078}"/>
              </a:ext>
            </a:extLst>
          </p:cNvPr>
          <p:cNvSpPr>
            <a:spLocks noGrp="1"/>
          </p:cNvSpPr>
          <p:nvPr/>
        </p:nvSpPr>
        <p:spPr>
          <a:xfrm>
            <a:off x="2426970" y="363855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PER 0.20%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375353E-6AE4-4B4E-A04D-35F8FE564399}"/>
              </a:ext>
            </a:extLst>
          </p:cNvPr>
          <p:cNvSpPr>
            <a:spLocks noGrp="1"/>
          </p:cNvSpPr>
          <p:nvPr/>
        </p:nvSpPr>
        <p:spPr>
          <a:xfrm>
            <a:off x="4141470" y="3562350"/>
            <a:ext cx="0" cy="6286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D58B38-93BB-4E67-9D2B-B88C31366168}"/>
              </a:ext>
            </a:extLst>
          </p:cNvPr>
          <p:cNvSpPr>
            <a:spLocks noGrp="1"/>
          </p:cNvSpPr>
          <p:nvPr/>
        </p:nvSpPr>
        <p:spPr>
          <a:xfrm>
            <a:off x="4236720" y="3638550"/>
            <a:ext cx="357378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앞쪽</a:t>
            </a: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margin만</a:t>
            </a: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줘도</a:t>
            </a:r>
            <a:r>
              <a:rPr sz="135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32sym </a:t>
            </a:r>
            <a:r>
              <a:rPr sz="135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생존</a:t>
            </a:r>
            <a:endParaRPr sz="135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B2179F-8FC8-434C-A59B-58A444E91828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72390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74463A-041B-43C0-95DD-B8E0872E482D}"/>
              </a:ext>
            </a:extLst>
          </p:cNvPr>
          <p:cNvSpPr>
            <a:spLocks noGrp="1"/>
          </p:cNvSpPr>
          <p:nvPr/>
        </p:nvSpPr>
        <p:spPr>
          <a:xfrm>
            <a:off x="762000" y="4267200"/>
            <a:ext cx="147447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FCE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5C0F49F5-5B17-4FDA-AA3C-7130FC43B92D}"/>
              </a:ext>
            </a:extLst>
          </p:cNvPr>
          <p:cNvSpPr>
            <a:spLocks noGrp="1"/>
          </p:cNvSpPr>
          <p:nvPr/>
        </p:nvSpPr>
        <p:spPr>
          <a:xfrm>
            <a:off x="2331720" y="4191000"/>
            <a:ext cx="0" cy="6286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CACA44-BE93-49DE-8E55-F5AA921C560F}"/>
              </a:ext>
            </a:extLst>
          </p:cNvPr>
          <p:cNvSpPr>
            <a:spLocks noGrp="1"/>
          </p:cNvSpPr>
          <p:nvPr/>
        </p:nvSpPr>
        <p:spPr>
          <a:xfrm>
            <a:off x="2426970" y="42672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관측되지 않음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9EC2776E-668C-41AA-A29A-45190D41571E}"/>
              </a:ext>
            </a:extLst>
          </p:cNvPr>
          <p:cNvSpPr>
            <a:spLocks noGrp="1"/>
          </p:cNvSpPr>
          <p:nvPr/>
        </p:nvSpPr>
        <p:spPr>
          <a:xfrm>
            <a:off x="4141470" y="4191000"/>
            <a:ext cx="0" cy="6286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BC2116-5F5F-49BE-B8D2-8EB4EEEFD925}"/>
              </a:ext>
            </a:extLst>
          </p:cNvPr>
          <p:cNvSpPr>
            <a:spLocks noGrp="1"/>
          </p:cNvSpPr>
          <p:nvPr/>
        </p:nvSpPr>
        <p:spPr>
          <a:xfrm>
            <a:off x="4236720" y="4267200"/>
            <a:ext cx="357378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프레임 후반부가 잘린 흔적은 약함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D781821-F5CC-4791-8EC7-0CE6BB081179}"/>
              </a:ext>
            </a:extLst>
          </p:cNvPr>
          <p:cNvSpPr>
            <a:spLocks noGrp="1"/>
          </p:cNvSpPr>
          <p:nvPr/>
        </p:nvSpPr>
        <p:spPr>
          <a:xfrm>
            <a:off x="8346577" y="1676400"/>
            <a:ext cx="2931023" cy="3714750"/>
          </a:xfrm>
          <a:prstGeom prst="rect">
            <a:avLst/>
          </a:prstGeom>
          <a:solidFill>
            <a:srgbClr val="FCECEC"/>
          </a:solidFill>
          <a:ln w="9525">
            <a:solidFill>
              <a:srgbClr val="E7B7B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7887DC9-0A83-49C1-BB28-A1CF80DCBE39}"/>
              </a:ext>
            </a:extLst>
          </p:cNvPr>
          <p:cNvSpPr>
            <a:spLocks noGrp="1"/>
          </p:cNvSpPr>
          <p:nvPr/>
        </p:nvSpPr>
        <p:spPr>
          <a:xfrm>
            <a:off x="8667750" y="19621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D947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650" b="1" dirty="0">
                <a:solidFill>
                  <a:srgbClr val="D94747"/>
                </a:solidFill>
                <a:latin typeface="Apple SD Gothic Neo"/>
                <a:ea typeface="Apple SD Gothic Neo"/>
                <a:cs typeface="Apple SD Gothic Neo"/>
              </a:rPr>
              <a:t>판단</a:t>
            </a:r>
            <a:endParaRPr sz="1650" b="1" dirty="0">
              <a:solidFill>
                <a:srgbClr val="D9474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E82CF9-86D3-4045-8B0A-DB0455DAFD48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3241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tail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margin이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부족했다면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RX가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프레임을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어느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정도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잡은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뒤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CRC/FCE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쪽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문제가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보여야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한다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endParaRPr sz="180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8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하지만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관찰된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실패는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대부분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FWTO,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즉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프레임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시작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자체를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못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본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쪽에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가깝다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C03057-01A7-4B1C-9E62-46A3EC2AB566}"/>
              </a:ext>
            </a:extLst>
          </p:cNvPr>
          <p:cNvSpPr>
            <a:spLocks noGrp="1"/>
          </p:cNvSpPr>
          <p:nvPr/>
        </p:nvSpPr>
        <p:spPr>
          <a:xfrm>
            <a:off x="781050" y="53911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lnSpc>
                <a:spcPct val="118000"/>
              </a:lnSpc>
              <a:buNone/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정리</a:t>
            </a:r>
            <a:r>
              <a:rPr sz="22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sz="22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</a:t>
            </a:r>
            <a:r>
              <a:rPr sz="22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실험의</a:t>
            </a:r>
            <a:r>
              <a:rPr sz="22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r>
              <a:rPr sz="22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변수는</a:t>
            </a:r>
            <a:r>
              <a:rPr sz="22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tail보다</a:t>
            </a:r>
            <a:r>
              <a:rPr sz="22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lead다</a:t>
            </a:r>
            <a:r>
              <a:rPr sz="22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72C7A4-D363-494F-8886-BA6F1A9A3212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lnSpc>
                <a:spcPct val="118000"/>
              </a:lnSpc>
              <a:buNone/>
              <a:def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22533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79EE1FEA-064B-4681-A288-76ED012AA3F6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 분석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C1DB1B-3B40-4EFA-819B-94ABE9ABFE65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신버전에서는 시간 계산을 코드 기준으로 정리했다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FCACDBB-D78E-4D4E-99DD-6114205B1050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315ED4-B925-4638-9BE2-5ED4255960C8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4953000" cy="21907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3188A2-4A12-4797-9F0D-E48F09F1625D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44577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550" lnSpcReduction="10000"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PREAMBLE_US = ceil(</a:t>
            </a:r>
            <a:r>
              <a:rPr sz="1575" b="0" dirty="0" err="1">
                <a:solidFill>
                  <a:srgbClr val="FFFFFF"/>
                </a:solidFill>
                <a:latin typeface="Menlo"/>
                <a:ea typeface="Menlo"/>
                <a:cs typeface="Menlo"/>
              </a:rPr>
              <a:t>Npre</a:t>
            </a:r>
            <a:r>
              <a:rPr sz="1575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* 1.0177 us)</a:t>
            </a:r>
          </a:p>
          <a:p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SFD_US      = ceil(8 * 1.0177 us)</a:t>
            </a:r>
          </a:p>
          <a:p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RX_EARLY_US = PREAMBLE_US + SFD_US </a:t>
            </a:r>
            <a:r>
              <a:rPr lang="en-US" sz="1575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+ lead</a:t>
            </a:r>
            <a:endParaRPr sz="1575" b="0" dirty="0">
              <a:solidFill>
                <a:srgbClr val="FFFFFF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RX_WINDOW_US = RX_EARLY_US + PHR_PSDU_US</a:t>
            </a:r>
            <a:r>
              <a:rPr lang="en-KR" sz="1575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+</a:t>
            </a:r>
            <a:r>
              <a:rPr lang="en-US" sz="1575" b="0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tail</a:t>
            </a:r>
            <a:endParaRPr sz="1575" b="0" dirty="0">
              <a:solidFill>
                <a:srgbClr val="FFFFFF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2B8F0D-79FC-40E1-BF88-686B749C171A}"/>
              </a:ext>
            </a:extLst>
          </p:cNvPr>
          <p:cNvSpPr>
            <a:spLocks noGrp="1"/>
          </p:cNvSpPr>
          <p:nvPr/>
        </p:nvSpPr>
        <p:spPr>
          <a:xfrm>
            <a:off x="6096000" y="1638300"/>
            <a:ext cx="5143500" cy="48768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CBD731-523A-4CE7-8E40-6EAF5404494E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63246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plen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957F5C8-89FC-464E-A915-D630DC3E3B88}"/>
              </a:ext>
            </a:extLst>
          </p:cNvPr>
          <p:cNvSpPr>
            <a:spLocks noGrp="1"/>
          </p:cNvSpPr>
          <p:nvPr/>
        </p:nvSpPr>
        <p:spPr>
          <a:xfrm>
            <a:off x="6918960" y="163830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6C952A-B0D0-414E-AF89-F02699A77AB6}"/>
              </a:ext>
            </a:extLst>
          </p:cNvPr>
          <p:cNvSpPr>
            <a:spLocks noGrp="1"/>
          </p:cNvSpPr>
          <p:nvPr/>
        </p:nvSpPr>
        <p:spPr>
          <a:xfrm>
            <a:off x="7014210" y="1714500"/>
            <a:ext cx="1095375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226"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PRE+SFD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67FA70CF-4F43-4F79-84DD-E5CC707549E7}"/>
              </a:ext>
            </a:extLst>
          </p:cNvPr>
          <p:cNvSpPr>
            <a:spLocks noGrp="1"/>
          </p:cNvSpPr>
          <p:nvPr/>
        </p:nvSpPr>
        <p:spPr>
          <a:xfrm>
            <a:off x="8204835" y="163830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B0BD84-8BCD-4AFE-85E1-5EFFFA59ACD9}"/>
              </a:ext>
            </a:extLst>
          </p:cNvPr>
          <p:cNvSpPr>
            <a:spLocks noGrp="1"/>
          </p:cNvSpPr>
          <p:nvPr/>
        </p:nvSpPr>
        <p:spPr>
          <a:xfrm>
            <a:off x="8300085" y="1714500"/>
            <a:ext cx="1095375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226"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코드 PRE+SFD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DBD92FC-49A6-4550-A862-EE8FE6CF9A81}"/>
              </a:ext>
            </a:extLst>
          </p:cNvPr>
          <p:cNvSpPr>
            <a:spLocks noGrp="1"/>
          </p:cNvSpPr>
          <p:nvPr/>
        </p:nvSpPr>
        <p:spPr>
          <a:xfrm>
            <a:off x="9490710" y="163830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4A98FA-7E9C-431D-A47E-D9A5BB185C36}"/>
              </a:ext>
            </a:extLst>
          </p:cNvPr>
          <p:cNvSpPr>
            <a:spLocks noGrp="1"/>
          </p:cNvSpPr>
          <p:nvPr/>
        </p:nvSpPr>
        <p:spPr>
          <a:xfrm>
            <a:off x="9585960" y="1714500"/>
            <a:ext cx="155829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5FF360-50A7-4C8F-8F39-67BD9D8171A9}"/>
              </a:ext>
            </a:extLst>
          </p:cNvPr>
          <p:cNvSpPr>
            <a:spLocks noGrp="1"/>
          </p:cNvSpPr>
          <p:nvPr/>
        </p:nvSpPr>
        <p:spPr>
          <a:xfrm>
            <a:off x="6096000" y="2125980"/>
            <a:ext cx="5143500" cy="487680"/>
          </a:xfrm>
          <a:prstGeom prst="rect">
            <a:avLst/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28BFEA-8596-45B5-95F7-014F0DB7AC34}"/>
              </a:ext>
            </a:extLst>
          </p:cNvPr>
          <p:cNvSpPr>
            <a:spLocks noGrp="1"/>
          </p:cNvSpPr>
          <p:nvPr/>
        </p:nvSpPr>
        <p:spPr>
          <a:xfrm>
            <a:off x="6191250" y="2202180"/>
            <a:ext cx="63246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35B1C8A5-DB17-428E-80F8-3DE628CF9C44}"/>
              </a:ext>
            </a:extLst>
          </p:cNvPr>
          <p:cNvSpPr>
            <a:spLocks noGrp="1"/>
          </p:cNvSpPr>
          <p:nvPr/>
        </p:nvSpPr>
        <p:spPr>
          <a:xfrm>
            <a:off x="6918960" y="212598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EF4FB-C815-4049-A3C1-D63FB89A3F98}"/>
              </a:ext>
            </a:extLst>
          </p:cNvPr>
          <p:cNvSpPr>
            <a:spLocks noGrp="1"/>
          </p:cNvSpPr>
          <p:nvPr/>
        </p:nvSpPr>
        <p:spPr>
          <a:xfrm>
            <a:off x="7014210" y="2202180"/>
            <a:ext cx="1095375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40.71us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E447CB2-D086-480B-B30D-8AE65022AD74}"/>
              </a:ext>
            </a:extLst>
          </p:cNvPr>
          <p:cNvSpPr>
            <a:spLocks noGrp="1"/>
          </p:cNvSpPr>
          <p:nvPr/>
        </p:nvSpPr>
        <p:spPr>
          <a:xfrm>
            <a:off x="8204835" y="212598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0B5CEA-D965-45FF-B2C5-E3D9D3CC18C3}"/>
              </a:ext>
            </a:extLst>
          </p:cNvPr>
          <p:cNvSpPr>
            <a:spLocks noGrp="1"/>
          </p:cNvSpPr>
          <p:nvPr/>
        </p:nvSpPr>
        <p:spPr>
          <a:xfrm>
            <a:off x="8300085" y="2202180"/>
            <a:ext cx="1095375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altLang="ko-KR" sz="1275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2us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479DA450-6199-47B3-95D0-B37B30D09710}"/>
              </a:ext>
            </a:extLst>
          </p:cNvPr>
          <p:cNvSpPr>
            <a:spLocks noGrp="1"/>
          </p:cNvSpPr>
          <p:nvPr/>
        </p:nvSpPr>
        <p:spPr>
          <a:xfrm>
            <a:off x="9490710" y="212598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DEF81E-6F72-45B7-BBE7-04311E7065E7}"/>
              </a:ext>
            </a:extLst>
          </p:cNvPr>
          <p:cNvSpPr>
            <a:spLocks noGrp="1"/>
          </p:cNvSpPr>
          <p:nvPr/>
        </p:nvSpPr>
        <p:spPr>
          <a:xfrm>
            <a:off x="9585960" y="2202180"/>
            <a:ext cx="155829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약 1.29us 일찍 예약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3B30B0-9C48-4A59-877C-84732B7ECE18}"/>
              </a:ext>
            </a:extLst>
          </p:cNvPr>
          <p:cNvSpPr>
            <a:spLocks noGrp="1"/>
          </p:cNvSpPr>
          <p:nvPr/>
        </p:nvSpPr>
        <p:spPr>
          <a:xfrm>
            <a:off x="6096000" y="2613660"/>
            <a:ext cx="5143500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AD7DD8-460E-4DAF-B7E0-108C10B49D41}"/>
              </a:ext>
            </a:extLst>
          </p:cNvPr>
          <p:cNvSpPr>
            <a:spLocks noGrp="1"/>
          </p:cNvSpPr>
          <p:nvPr/>
        </p:nvSpPr>
        <p:spPr>
          <a:xfrm>
            <a:off x="6191250" y="2689860"/>
            <a:ext cx="63246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64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C20F647D-4C0D-476F-B239-AFCBDFBBA65E}"/>
              </a:ext>
            </a:extLst>
          </p:cNvPr>
          <p:cNvSpPr>
            <a:spLocks noGrp="1"/>
          </p:cNvSpPr>
          <p:nvPr/>
        </p:nvSpPr>
        <p:spPr>
          <a:xfrm>
            <a:off x="6918960" y="261366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46CE1C-12FE-4389-84C3-BAE94B6E47E1}"/>
              </a:ext>
            </a:extLst>
          </p:cNvPr>
          <p:cNvSpPr>
            <a:spLocks noGrp="1"/>
          </p:cNvSpPr>
          <p:nvPr/>
        </p:nvSpPr>
        <p:spPr>
          <a:xfrm>
            <a:off x="7014210" y="2689860"/>
            <a:ext cx="1095375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73.27us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AB0B37A6-8E78-44AC-84C1-4C195ADAEB28}"/>
              </a:ext>
            </a:extLst>
          </p:cNvPr>
          <p:cNvSpPr>
            <a:spLocks noGrp="1"/>
          </p:cNvSpPr>
          <p:nvPr/>
        </p:nvSpPr>
        <p:spPr>
          <a:xfrm>
            <a:off x="8204835" y="261366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C9C760-24C9-414B-9B32-710404A1B35F}"/>
              </a:ext>
            </a:extLst>
          </p:cNvPr>
          <p:cNvSpPr>
            <a:spLocks noGrp="1"/>
          </p:cNvSpPr>
          <p:nvPr/>
        </p:nvSpPr>
        <p:spPr>
          <a:xfrm>
            <a:off x="8300085" y="2689860"/>
            <a:ext cx="1095375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75us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1D554ED3-B039-4D13-AA85-5827F90A7C98}"/>
              </a:ext>
            </a:extLst>
          </p:cNvPr>
          <p:cNvSpPr>
            <a:spLocks noGrp="1"/>
          </p:cNvSpPr>
          <p:nvPr/>
        </p:nvSpPr>
        <p:spPr>
          <a:xfrm>
            <a:off x="9490710" y="261366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2865E0-7AEF-46D1-BB02-07F8FBC65F13}"/>
              </a:ext>
            </a:extLst>
          </p:cNvPr>
          <p:cNvSpPr>
            <a:spLocks noGrp="1"/>
          </p:cNvSpPr>
          <p:nvPr/>
        </p:nvSpPr>
        <p:spPr>
          <a:xfrm>
            <a:off x="9585960" y="2689860"/>
            <a:ext cx="155829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약 1.73us 일찍 예약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4253F3-834B-456C-9315-B62EF68A0608}"/>
              </a:ext>
            </a:extLst>
          </p:cNvPr>
          <p:cNvSpPr>
            <a:spLocks noGrp="1"/>
          </p:cNvSpPr>
          <p:nvPr/>
        </p:nvSpPr>
        <p:spPr>
          <a:xfrm>
            <a:off x="6096000" y="3101340"/>
            <a:ext cx="5143500" cy="487680"/>
          </a:xfrm>
          <a:prstGeom prst="rect">
            <a:avLst/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70C9C6-BE8C-4F00-83F2-C2D8176A090C}"/>
              </a:ext>
            </a:extLst>
          </p:cNvPr>
          <p:cNvSpPr>
            <a:spLocks noGrp="1"/>
          </p:cNvSpPr>
          <p:nvPr/>
        </p:nvSpPr>
        <p:spPr>
          <a:xfrm>
            <a:off x="6191250" y="3177540"/>
            <a:ext cx="63246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128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CC84AB46-8865-4A16-80C2-CCCB9981C1CD}"/>
              </a:ext>
            </a:extLst>
          </p:cNvPr>
          <p:cNvSpPr>
            <a:spLocks noGrp="1"/>
          </p:cNvSpPr>
          <p:nvPr/>
        </p:nvSpPr>
        <p:spPr>
          <a:xfrm>
            <a:off x="6918960" y="310134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7D406C-6842-47DC-8399-44CB431C68D9}"/>
              </a:ext>
            </a:extLst>
          </p:cNvPr>
          <p:cNvSpPr>
            <a:spLocks noGrp="1"/>
          </p:cNvSpPr>
          <p:nvPr/>
        </p:nvSpPr>
        <p:spPr>
          <a:xfrm>
            <a:off x="7014210" y="3177540"/>
            <a:ext cx="1095375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138.41us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3D0C2630-4F78-461B-AD0E-86B8EAB06554}"/>
              </a:ext>
            </a:extLst>
          </p:cNvPr>
          <p:cNvSpPr>
            <a:spLocks noGrp="1"/>
          </p:cNvSpPr>
          <p:nvPr/>
        </p:nvSpPr>
        <p:spPr>
          <a:xfrm>
            <a:off x="8204835" y="310134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A284DD-0F5F-4BA7-A8D5-D5DCAB0A347E}"/>
              </a:ext>
            </a:extLst>
          </p:cNvPr>
          <p:cNvSpPr>
            <a:spLocks noGrp="1"/>
          </p:cNvSpPr>
          <p:nvPr/>
        </p:nvSpPr>
        <p:spPr>
          <a:xfrm>
            <a:off x="8300085" y="3177540"/>
            <a:ext cx="1095375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140us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37C05F2B-B6E4-46D1-89B3-0E96C5790368}"/>
              </a:ext>
            </a:extLst>
          </p:cNvPr>
          <p:cNvSpPr>
            <a:spLocks noGrp="1"/>
          </p:cNvSpPr>
          <p:nvPr/>
        </p:nvSpPr>
        <p:spPr>
          <a:xfrm>
            <a:off x="9490710" y="310134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31FCE7-E0B0-49FA-B07F-A00C50CE924C}"/>
              </a:ext>
            </a:extLst>
          </p:cNvPr>
          <p:cNvSpPr>
            <a:spLocks noGrp="1"/>
          </p:cNvSpPr>
          <p:nvPr/>
        </p:nvSpPr>
        <p:spPr>
          <a:xfrm>
            <a:off x="9585960" y="3177540"/>
            <a:ext cx="155829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약 1.59us 일찍 예약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7F0579B-7F83-4CCE-BDC6-FE83561A63A7}"/>
              </a:ext>
            </a:extLst>
          </p:cNvPr>
          <p:cNvSpPr>
            <a:spLocks noGrp="1"/>
          </p:cNvSpPr>
          <p:nvPr/>
        </p:nvSpPr>
        <p:spPr>
          <a:xfrm>
            <a:off x="6096000" y="3589020"/>
            <a:ext cx="5143500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D27EF6-CB7A-4047-9531-0452473E1632}"/>
              </a:ext>
            </a:extLst>
          </p:cNvPr>
          <p:cNvSpPr>
            <a:spLocks noGrp="1"/>
          </p:cNvSpPr>
          <p:nvPr/>
        </p:nvSpPr>
        <p:spPr>
          <a:xfrm>
            <a:off x="6191250" y="3665220"/>
            <a:ext cx="63246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256</a:t>
            </a: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2503ACDC-A948-4250-89D3-40BD9248D917}"/>
              </a:ext>
            </a:extLst>
          </p:cNvPr>
          <p:cNvSpPr>
            <a:spLocks noGrp="1"/>
          </p:cNvSpPr>
          <p:nvPr/>
        </p:nvSpPr>
        <p:spPr>
          <a:xfrm>
            <a:off x="6918960" y="358902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C53636-355A-4547-A663-C8FC81F0EAED}"/>
              </a:ext>
            </a:extLst>
          </p:cNvPr>
          <p:cNvSpPr>
            <a:spLocks noGrp="1"/>
          </p:cNvSpPr>
          <p:nvPr/>
        </p:nvSpPr>
        <p:spPr>
          <a:xfrm>
            <a:off x="7014210" y="3665220"/>
            <a:ext cx="1095375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268.67us</a:t>
            </a:r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57909546-2299-447F-A0B3-7470B484C52F}"/>
              </a:ext>
            </a:extLst>
          </p:cNvPr>
          <p:cNvSpPr>
            <a:spLocks noGrp="1"/>
          </p:cNvSpPr>
          <p:nvPr/>
        </p:nvSpPr>
        <p:spPr>
          <a:xfrm>
            <a:off x="8204835" y="358902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AA750D4-DBA3-4294-BC8F-F14557D0900D}"/>
              </a:ext>
            </a:extLst>
          </p:cNvPr>
          <p:cNvSpPr>
            <a:spLocks noGrp="1"/>
          </p:cNvSpPr>
          <p:nvPr/>
        </p:nvSpPr>
        <p:spPr>
          <a:xfrm>
            <a:off x="8300085" y="3665220"/>
            <a:ext cx="1095375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270us</a:t>
            </a:r>
          </a:p>
        </p:txBody>
      </p:sp>
      <p:sp>
        <p:nvSpPr>
          <p:cNvPr id="44" name="Straight Connector 43">
            <a:extLst>
              <a:ext uri="{FF2B5EF4-FFF2-40B4-BE49-F238E27FC236}">
                <a16:creationId xmlns:a16="http://schemas.microsoft.com/office/drawing/2014/main" id="{8924E01A-8448-42E7-A017-1BC4728EFC59}"/>
              </a:ext>
            </a:extLst>
          </p:cNvPr>
          <p:cNvSpPr>
            <a:spLocks noGrp="1"/>
          </p:cNvSpPr>
          <p:nvPr/>
        </p:nvSpPr>
        <p:spPr>
          <a:xfrm>
            <a:off x="9490710" y="3589020"/>
            <a:ext cx="0" cy="48768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F1085DE-0520-41A8-A6C4-AC80E634CF8C}"/>
              </a:ext>
            </a:extLst>
          </p:cNvPr>
          <p:cNvSpPr>
            <a:spLocks noGrp="1"/>
          </p:cNvSpPr>
          <p:nvPr/>
        </p:nvSpPr>
        <p:spPr>
          <a:xfrm>
            <a:off x="9585960" y="3665220"/>
            <a:ext cx="155829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약 1.33us 일찍 예약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2C335D9-A405-4D75-A6A7-254E332B6280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dwt_setrxtimeout은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KR"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u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s가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UUS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단위라서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US_TO_UUS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변환을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적용했다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pPr algn="l">
              <a:lnSpc>
                <a:spcPct val="118000"/>
              </a:lnSpc>
              <a:buNone/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위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정수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올림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보정은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1~2us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수준이라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, 10us대 </a:t>
            </a:r>
            <a:r>
              <a:rPr lang="en-US" altLang="ko-KR"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 </a:t>
            </a:r>
            <a:r>
              <a:rPr lang="en-US" altLang="ko-KR" sz="1725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margin</a:t>
            </a:r>
            <a:r>
              <a:rPr lang="ko-KR" altLang="en-US" sz="1725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 필요한 이유를 설명하지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못한다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749B545-ECD8-4BF8-9937-5B2D8734CE86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lnSpc>
                <a:spcPct val="118000"/>
              </a:lnSpc>
              <a:buNone/>
              <a:def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36619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BFDBDF6-3F68-4FE0-961A-99674C59688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 분석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A386BC-BC88-43EB-A6A7-CC38C456A84E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기동지연 δ와 h로 lead 효과를 계산한다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ED6D4A8-9121-4F09-BF3C-E1C70C78D293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5BB05-BC1A-4661-BE8A-ADA6CBC93650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정의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C147F7-0CE0-4030-A821-30B4F13A3DC7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5048250" cy="24765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DCF2A3-F6DF-4623-80EF-4057283C78DC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453390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334" lnSpcReduction="20000"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δ = RX_ON 명령 후 실제 청취 시작까지의 공백</a:t>
            </a:r>
          </a:p>
          <a:p>
            <a:endParaRPr sz="1650" b="0">
              <a:solidFill>
                <a:srgbClr val="FFFFFF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 = δ - 1.3us - lead</a:t>
            </a:r>
          </a:p>
          <a:p>
            <a:endParaRPr sz="1650" b="0">
              <a:solidFill>
                <a:srgbClr val="FFFFFF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 &gt; 0 : preamble 시작보다 늦게 듣기 시작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 = 0 : preamble 시작과 정렬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 &lt; 0 : preamble 시작 전부터 듣고 있음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8846D0-225A-45C5-9E56-5FB7D2B773E5}"/>
              </a:ext>
            </a:extLst>
          </p:cNvPr>
          <p:cNvSpPr>
            <a:spLocks noGrp="1"/>
          </p:cNvSpPr>
          <p:nvPr/>
        </p:nvSpPr>
        <p:spPr>
          <a:xfrm>
            <a:off x="6438900" y="1581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왜 1.3us를 빼나?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02CD8-24FE-4C61-8368-E1FC54D4D972}"/>
              </a:ext>
            </a:extLst>
          </p:cNvPr>
          <p:cNvSpPr>
            <a:spLocks noGrp="1"/>
          </p:cNvSpPr>
          <p:nvPr/>
        </p:nvSpPr>
        <p:spPr>
          <a:xfrm>
            <a:off x="6438900" y="2019300"/>
            <a:ext cx="4476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코드는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32sym에서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preamble+SFD를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42us로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올림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처리한다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endParaRPr sz="180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6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물리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시간은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약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40.7us라서,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코드가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약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1.3us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더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일찍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RX_ON을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예약하는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효과가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있다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endParaRPr sz="180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6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그래서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늦음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h는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δ에서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1.3us와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lead를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뺀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값으로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본다</a:t>
            </a:r>
            <a:r>
              <a:rPr sz="18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B0845D-2965-4710-A81B-4A56FA12BBC6}"/>
              </a:ext>
            </a:extLst>
          </p:cNvPr>
          <p:cNvSpPr>
            <a:spLocks noGrp="1"/>
          </p:cNvSpPr>
          <p:nvPr/>
        </p:nvSpPr>
        <p:spPr>
          <a:xfrm>
            <a:off x="6438899" y="4571999"/>
            <a:ext cx="4555165" cy="1158947"/>
          </a:xfrm>
          <a:prstGeom prst="rect">
            <a:avLst/>
          </a:prstGeom>
          <a:solidFill>
            <a:srgbClr val="FFF0D7"/>
          </a:solidFill>
          <a:ln w="9525">
            <a:solidFill>
              <a:srgbClr val="F2C77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378804-D89A-4163-9044-8579E7EC3406}"/>
              </a:ext>
            </a:extLst>
          </p:cNvPr>
          <p:cNvSpPr>
            <a:spLocks noGrp="1"/>
          </p:cNvSpPr>
          <p:nvPr/>
        </p:nvSpPr>
        <p:spPr>
          <a:xfrm>
            <a:off x="6705600" y="48196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F299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2991D"/>
                </a:solidFill>
                <a:latin typeface="Apple SD Gothic Neo"/>
                <a:ea typeface="Apple SD Gothic Neo"/>
                <a:cs typeface="Apple SD Gothic Neo"/>
              </a:rPr>
              <a:t>주의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90BE42-8211-4C59-A779-65F6A42BD8B6}"/>
              </a:ext>
            </a:extLst>
          </p:cNvPr>
          <p:cNvSpPr>
            <a:spLocks noGrp="1"/>
          </p:cNvSpPr>
          <p:nvPr/>
        </p:nvSpPr>
        <p:spPr>
          <a:xfrm>
            <a:off x="7562850" y="4781550"/>
            <a:ext cx="2952750" cy="86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δ는</a:t>
            </a:r>
            <a:r>
              <a:rPr sz="15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직접</a:t>
            </a:r>
            <a:r>
              <a:rPr sz="15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측정값이</a:t>
            </a:r>
            <a:r>
              <a:rPr sz="15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5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en-US" sz="15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뒤에</a:t>
            </a:r>
            <a:r>
              <a:rPr lang="en-US" sz="15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5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나오는</a:t>
            </a:r>
            <a:r>
              <a:rPr lang="en-US" sz="15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5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실험에서</a:t>
            </a:r>
            <a:r>
              <a:rPr lang="en-US" sz="15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 </a:t>
            </a:r>
            <a:r>
              <a:rPr sz="15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sweep과</a:t>
            </a:r>
            <a:r>
              <a:rPr sz="15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PAC grid </a:t>
            </a:r>
            <a:r>
              <a:rPr sz="15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해석으로</a:t>
            </a:r>
            <a:r>
              <a:rPr sz="15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역추정한</a:t>
            </a:r>
            <a:r>
              <a:rPr sz="15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값이다</a:t>
            </a:r>
            <a:r>
              <a:rPr sz="1575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63C40-AFF3-4ECE-83AF-2D32932C4D67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lnSpc>
                <a:spcPct val="118000"/>
              </a:lnSpc>
              <a:buNone/>
              <a:def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46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81500A8-6510-4A61-9A11-1846306A3F71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 분석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777CB1-CA10-47A8-AE27-11F21EF863F9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h 계산은 전이 구간을 고르기 위한 가설 모델이다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B4AB371-28F9-44D5-9A9E-BD28FE69F829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C5259-33BE-48C4-AD3B-3A14C933C09B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7334250" cy="57150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2EE7E0-082B-400D-9820-569B95B55C50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14230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계산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ADCB2B3-2FD1-4A80-8DB6-5A3BFE77A11F}"/>
              </a:ext>
            </a:extLst>
          </p:cNvPr>
          <p:cNvSpPr>
            <a:spLocks noGrp="1"/>
          </p:cNvSpPr>
          <p:nvPr/>
        </p:nvSpPr>
        <p:spPr>
          <a:xfrm>
            <a:off x="2280285" y="1619250"/>
            <a:ext cx="0" cy="5715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B4DFAA-9BB7-4CB8-A415-80C2E01F1FBB}"/>
              </a:ext>
            </a:extLst>
          </p:cNvPr>
          <p:cNvSpPr>
            <a:spLocks noGrp="1"/>
          </p:cNvSpPr>
          <p:nvPr/>
        </p:nvSpPr>
        <p:spPr>
          <a:xfrm>
            <a:off x="2375535" y="1695450"/>
            <a:ext cx="171640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식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BAE8342-589F-40A0-A049-F74F10CE6CCC}"/>
              </a:ext>
            </a:extLst>
          </p:cNvPr>
          <p:cNvSpPr>
            <a:spLocks noGrp="1"/>
          </p:cNvSpPr>
          <p:nvPr/>
        </p:nvSpPr>
        <p:spPr>
          <a:xfrm>
            <a:off x="4187190" y="1619250"/>
            <a:ext cx="0" cy="5715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32B199-CDDF-4D60-A8D6-1F59BB18A1DE}"/>
              </a:ext>
            </a:extLst>
          </p:cNvPr>
          <p:cNvSpPr>
            <a:spLocks noGrp="1"/>
          </p:cNvSpPr>
          <p:nvPr/>
        </p:nvSpPr>
        <p:spPr>
          <a:xfrm>
            <a:off x="4282440" y="1695450"/>
            <a:ext cx="362331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의미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B61162-FBAF-48CB-A620-DCF1E6E0B088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7334250" cy="571500"/>
          </a:xfrm>
          <a:prstGeom prst="rect">
            <a:avLst/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0BC93D-0AF9-4595-9408-4209FA35301D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14230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남은 preamble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9346905-112C-4772-AF89-8E453DEEFBC1}"/>
              </a:ext>
            </a:extLst>
          </p:cNvPr>
          <p:cNvSpPr>
            <a:spLocks noGrp="1"/>
          </p:cNvSpPr>
          <p:nvPr/>
        </p:nvSpPr>
        <p:spPr>
          <a:xfrm>
            <a:off x="2280285" y="2190750"/>
            <a:ext cx="0" cy="5715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138CD-9EE0-43B2-90B1-DD254AAB0F82}"/>
              </a:ext>
            </a:extLst>
          </p:cNvPr>
          <p:cNvSpPr>
            <a:spLocks noGrp="1"/>
          </p:cNvSpPr>
          <p:nvPr/>
        </p:nvSpPr>
        <p:spPr>
          <a:xfrm>
            <a:off x="2375535" y="2266950"/>
            <a:ext cx="171640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32.56 - h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4A477FA-0D75-4194-BDDD-4B980B53DA99}"/>
              </a:ext>
            </a:extLst>
          </p:cNvPr>
          <p:cNvSpPr>
            <a:spLocks noGrp="1"/>
          </p:cNvSpPr>
          <p:nvPr/>
        </p:nvSpPr>
        <p:spPr>
          <a:xfrm>
            <a:off x="4187190" y="2190750"/>
            <a:ext cx="0" cy="5715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5E70DE-6EBD-47E6-8A6C-0CCCD2110FED}"/>
              </a:ext>
            </a:extLst>
          </p:cNvPr>
          <p:cNvSpPr>
            <a:spLocks noGrp="1"/>
          </p:cNvSpPr>
          <p:nvPr/>
        </p:nvSpPr>
        <p:spPr>
          <a:xfrm>
            <a:off x="4282440" y="2266950"/>
            <a:ext cx="362331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h가 커질수록 검출에 쓸 preamble이 줄어듦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7763CC-782B-4F07-93A1-81A108FA2D90}"/>
              </a:ext>
            </a:extLst>
          </p:cNvPr>
          <p:cNvSpPr>
            <a:spLocks noGrp="1"/>
          </p:cNvSpPr>
          <p:nvPr/>
        </p:nvSpPr>
        <p:spPr>
          <a:xfrm>
            <a:off x="666750" y="2762250"/>
            <a:ext cx="7334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77904D-81EC-4C4C-A00F-727470125DA2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14230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성공 조건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8C8EE15-24EA-4DEC-858D-DBFF3D9F7DBA}"/>
              </a:ext>
            </a:extLst>
          </p:cNvPr>
          <p:cNvSpPr>
            <a:spLocks noGrp="1"/>
          </p:cNvSpPr>
          <p:nvPr/>
        </p:nvSpPr>
        <p:spPr>
          <a:xfrm>
            <a:off x="2280285" y="2762250"/>
            <a:ext cx="0" cy="5715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9F4E6F-03E6-4731-91A3-4728E641C540}"/>
              </a:ext>
            </a:extLst>
          </p:cNvPr>
          <p:cNvSpPr>
            <a:spLocks noGrp="1"/>
          </p:cNvSpPr>
          <p:nvPr/>
        </p:nvSpPr>
        <p:spPr>
          <a:xfrm>
            <a:off x="2375535" y="2838450"/>
            <a:ext cx="171640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h &lt;= 12.2us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FC379A5-E1BD-45E3-9768-6BC79C5DD0AC}"/>
              </a:ext>
            </a:extLst>
          </p:cNvPr>
          <p:cNvSpPr>
            <a:spLocks noGrp="1"/>
          </p:cNvSpPr>
          <p:nvPr/>
        </p:nvSpPr>
        <p:spPr>
          <a:xfrm>
            <a:off x="4187190" y="2762250"/>
            <a:ext cx="0" cy="5715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4BDE7A-114E-4C9E-B328-F64088E0FD58}"/>
              </a:ext>
            </a:extLst>
          </p:cNvPr>
          <p:cNvSpPr>
            <a:spLocks noGrp="1"/>
          </p:cNvSpPr>
          <p:nvPr/>
        </p:nvSpPr>
        <p:spPr>
          <a:xfrm>
            <a:off x="4282440" y="2838450"/>
            <a:ext cx="362331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약 20.4us를 관측해야 한다는 가정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541895-4496-49A0-A0A4-0EADF739748E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7334250" cy="571500"/>
          </a:xfrm>
          <a:prstGeom prst="rect">
            <a:avLst/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CACE86-C642-4530-8EBB-88EC37A96698}"/>
              </a:ext>
            </a:extLst>
          </p:cNvPr>
          <p:cNvSpPr>
            <a:spLocks noGrp="1"/>
          </p:cNvSpPr>
          <p:nvPr/>
        </p:nvSpPr>
        <p:spPr>
          <a:xfrm>
            <a:off x="762000" y="3409950"/>
            <a:ext cx="14230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 하한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CE41AA51-4CB6-4AE7-8528-1CDBFB568503}"/>
              </a:ext>
            </a:extLst>
          </p:cNvPr>
          <p:cNvSpPr>
            <a:spLocks noGrp="1"/>
          </p:cNvSpPr>
          <p:nvPr/>
        </p:nvSpPr>
        <p:spPr>
          <a:xfrm>
            <a:off x="2280285" y="3333750"/>
            <a:ext cx="0" cy="5715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1141D3-BA48-4D20-B735-9D8EDB3A94BD}"/>
              </a:ext>
            </a:extLst>
          </p:cNvPr>
          <p:cNvSpPr>
            <a:spLocks noGrp="1"/>
          </p:cNvSpPr>
          <p:nvPr/>
        </p:nvSpPr>
        <p:spPr>
          <a:xfrm>
            <a:off x="2375535" y="3409950"/>
            <a:ext cx="171640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 &gt;= δ - 1.3 - 12.2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9B8FEB25-48C1-47AB-AE7C-F624B803A406}"/>
              </a:ext>
            </a:extLst>
          </p:cNvPr>
          <p:cNvSpPr>
            <a:spLocks noGrp="1"/>
          </p:cNvSpPr>
          <p:nvPr/>
        </p:nvSpPr>
        <p:spPr>
          <a:xfrm>
            <a:off x="4187190" y="3333750"/>
            <a:ext cx="0" cy="5715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6FCD97-E65E-4A43-9D33-C77B16710AAA}"/>
              </a:ext>
            </a:extLst>
          </p:cNvPr>
          <p:cNvSpPr>
            <a:spLocks noGrp="1"/>
          </p:cNvSpPr>
          <p:nvPr/>
        </p:nvSpPr>
        <p:spPr>
          <a:xfrm>
            <a:off x="4282440" y="3409950"/>
            <a:ext cx="362331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 값 이상이면 성공 가능 구간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71D49B-2CFF-43C4-A148-BDBBA7F09318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7334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55A695-AD11-47F5-8E07-A7AE2A09225D}"/>
              </a:ext>
            </a:extLst>
          </p:cNvPr>
          <p:cNvSpPr>
            <a:spLocks noGrp="1"/>
          </p:cNvSpPr>
          <p:nvPr/>
        </p:nvSpPr>
        <p:spPr>
          <a:xfrm>
            <a:off x="762000" y="3981450"/>
            <a:ext cx="14230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 14 해석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8DDDCB75-B1E0-4E3C-9544-163AF155F538}"/>
              </a:ext>
            </a:extLst>
          </p:cNvPr>
          <p:cNvSpPr>
            <a:spLocks noGrp="1"/>
          </p:cNvSpPr>
          <p:nvPr/>
        </p:nvSpPr>
        <p:spPr>
          <a:xfrm>
            <a:off x="2280285" y="3905250"/>
            <a:ext cx="0" cy="5715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6063FC-D127-4A3F-A06E-57FF82F4431E}"/>
              </a:ext>
            </a:extLst>
          </p:cNvPr>
          <p:cNvSpPr>
            <a:spLocks noGrp="1"/>
          </p:cNvSpPr>
          <p:nvPr/>
        </p:nvSpPr>
        <p:spPr>
          <a:xfrm>
            <a:off x="2375535" y="3981450"/>
            <a:ext cx="171640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h = -4 = δ - 1.3 - 14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B9DE3D7B-04E0-4778-95B3-6C7A53F36EAB}"/>
              </a:ext>
            </a:extLst>
          </p:cNvPr>
          <p:cNvSpPr>
            <a:spLocks noGrp="1"/>
          </p:cNvSpPr>
          <p:nvPr/>
        </p:nvSpPr>
        <p:spPr>
          <a:xfrm>
            <a:off x="4187190" y="3905250"/>
            <a:ext cx="0" cy="5715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0D52E1-E57F-4CC2-9973-346D40585D5A}"/>
              </a:ext>
            </a:extLst>
          </p:cNvPr>
          <p:cNvSpPr>
            <a:spLocks noGrp="1"/>
          </p:cNvSpPr>
          <p:nvPr/>
        </p:nvSpPr>
        <p:spPr>
          <a:xfrm>
            <a:off x="4282440" y="3981450"/>
            <a:ext cx="362331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PAC 경계 기준이면 δ ≈ 11.3us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FFB8D9-16A7-4AB3-9B58-F0F6BD026943}"/>
              </a:ext>
            </a:extLst>
          </p:cNvPr>
          <p:cNvSpPr>
            <a:spLocks noGrp="1"/>
          </p:cNvSpPr>
          <p:nvPr/>
        </p:nvSpPr>
        <p:spPr>
          <a:xfrm>
            <a:off x="8477250" y="1619249"/>
            <a:ext cx="2633759" cy="3229195"/>
          </a:xfrm>
          <a:prstGeom prst="rect">
            <a:avLst/>
          </a:prstGeom>
          <a:solidFill>
            <a:srgbClr val="FCECEC"/>
          </a:solidFill>
          <a:ln w="9525">
            <a:solidFill>
              <a:srgbClr val="E7B7B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3BB164-5A34-4586-B0D6-DB85ED40DD19}"/>
              </a:ext>
            </a:extLst>
          </p:cNvPr>
          <p:cNvSpPr>
            <a:spLocks noGrp="1"/>
          </p:cNvSpPr>
          <p:nvPr/>
        </p:nvSpPr>
        <p:spPr>
          <a:xfrm>
            <a:off x="8763000" y="19240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D947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D94747"/>
                </a:solidFill>
                <a:latin typeface="Apple SD Gothic Neo"/>
                <a:ea typeface="Apple SD Gothic Neo"/>
                <a:cs typeface="Apple SD Gothic Neo"/>
              </a:rPr>
              <a:t>현재 조심할 점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757DA7-9976-40D2-BA30-44F1324D8772}"/>
              </a:ext>
            </a:extLst>
          </p:cNvPr>
          <p:cNvSpPr>
            <a:spLocks noGrp="1"/>
          </p:cNvSpPr>
          <p:nvPr/>
        </p:nvSpPr>
        <p:spPr>
          <a:xfrm>
            <a:off x="8763000" y="2419350"/>
            <a:ext cx="2095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 0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실패로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잡는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δ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하한과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lead 14에서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역산한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δ가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완전히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같은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숫자로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닫히지는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않는다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endParaRPr sz="150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0000"/>
              </a:lnSpc>
              <a:buNone/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따라서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δ≈11.3us는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확정값이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PAC8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위상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설명용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가설로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두는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것이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안전하다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9D0230-C039-4B28-94DC-B619C369CC2A}"/>
              </a:ext>
            </a:extLst>
          </p:cNvPr>
          <p:cNvSpPr>
            <a:spLocks noGrp="1"/>
          </p:cNvSpPr>
          <p:nvPr/>
        </p:nvSpPr>
        <p:spPr>
          <a:xfrm>
            <a:off x="838200" y="51816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그래도 이 계산은 왜 2/4/6us를 촘촘히 찍었는지, 그리고 왜 lead가 단순히 클수록 좋은 값이 아닌지를 설명하는 데 필요하다.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9AA3C4-1881-4F57-9875-EBAD22AF45F8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lnSpc>
                <a:spcPct val="118000"/>
              </a:lnSpc>
              <a:buNone/>
              <a:def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0711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FB1D7D51-6EB3-4778-90D9-146E28320C54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 분석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0D658B-6FBB-47F9-B10A-DF0AF504C774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실패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원인은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카운터로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수신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단계별로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나눠</a:t>
            </a:r>
            <a:r>
              <a:rPr sz="270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70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본다</a:t>
            </a:r>
            <a:endParaRPr sz="2700" b="1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154FB7F-9F25-43B8-BACB-00F8C0094997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FD88C-6A27-4688-A7AF-32A81CA3C111}"/>
              </a:ext>
            </a:extLst>
          </p:cNvPr>
          <p:cNvSpPr>
            <a:spLocks noGrp="1"/>
          </p:cNvSpPr>
          <p:nvPr/>
        </p:nvSpPr>
        <p:spPr>
          <a:xfrm>
            <a:off x="533400" y="1562100"/>
            <a:ext cx="7239000" cy="60960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72D3E8-7F8F-48AC-9717-328891E87276}"/>
              </a:ext>
            </a:extLst>
          </p:cNvPr>
          <p:cNvSpPr>
            <a:spLocks noGrp="1"/>
          </p:cNvSpPr>
          <p:nvPr/>
        </p:nvSpPr>
        <p:spPr>
          <a:xfrm>
            <a:off x="628650" y="1638300"/>
            <a:ext cx="895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카운터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BFA981D5-2C1F-4D26-9A94-60CF11A3DD8E}"/>
              </a:ext>
            </a:extLst>
          </p:cNvPr>
          <p:cNvSpPr>
            <a:spLocks noGrp="1"/>
          </p:cNvSpPr>
          <p:nvPr/>
        </p:nvSpPr>
        <p:spPr>
          <a:xfrm>
            <a:off x="1619250" y="1562100"/>
            <a:ext cx="0" cy="6096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FD311E-FA0F-4B1B-87D1-AB5CC34A25D9}"/>
              </a:ext>
            </a:extLst>
          </p:cNvPr>
          <p:cNvSpPr>
            <a:spLocks noGrp="1"/>
          </p:cNvSpPr>
          <p:nvPr/>
        </p:nvSpPr>
        <p:spPr>
          <a:xfrm>
            <a:off x="1714500" y="1638300"/>
            <a:ext cx="183642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실패 단계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2B80ACD-46C8-48CE-BC4F-AA2DD8C12BFC}"/>
              </a:ext>
            </a:extLst>
          </p:cNvPr>
          <p:cNvSpPr>
            <a:spLocks noGrp="1"/>
          </p:cNvSpPr>
          <p:nvPr/>
        </p:nvSpPr>
        <p:spPr>
          <a:xfrm>
            <a:off x="3646170" y="1562100"/>
            <a:ext cx="0" cy="6096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FA372F-4524-45AF-9019-9937B5228DCE}"/>
              </a:ext>
            </a:extLst>
          </p:cNvPr>
          <p:cNvSpPr>
            <a:spLocks noGrp="1"/>
          </p:cNvSpPr>
          <p:nvPr/>
        </p:nvSpPr>
        <p:spPr>
          <a:xfrm>
            <a:off x="3741420" y="1638300"/>
            <a:ext cx="393573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실험에서의 해석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0386C4-96FB-4595-A8F1-C59021D06F8F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7239000" cy="609600"/>
          </a:xfrm>
          <a:prstGeom prst="rect">
            <a:avLst/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425315-6EFA-472E-937E-F6971614A41E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895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fwto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AE1D92A-D30F-4F68-A8F5-BDE1BE46AE03}"/>
              </a:ext>
            </a:extLst>
          </p:cNvPr>
          <p:cNvSpPr>
            <a:spLocks noGrp="1"/>
          </p:cNvSpPr>
          <p:nvPr/>
        </p:nvSpPr>
        <p:spPr>
          <a:xfrm>
            <a:off x="1619250" y="2171700"/>
            <a:ext cx="0" cy="6096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D40AF2-57E8-4883-BDA6-972496A39D63}"/>
              </a:ext>
            </a:extLst>
          </p:cNvPr>
          <p:cNvSpPr>
            <a:spLocks noGrp="1"/>
          </p:cNvSpPr>
          <p:nvPr/>
        </p:nvSpPr>
        <p:spPr>
          <a:xfrm>
            <a:off x="1714500" y="2247900"/>
            <a:ext cx="183642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프레임 시작 대기 실패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CBA3966A-0F9E-4678-AAE3-29616173351E}"/>
              </a:ext>
            </a:extLst>
          </p:cNvPr>
          <p:cNvSpPr>
            <a:spLocks noGrp="1"/>
          </p:cNvSpPr>
          <p:nvPr/>
        </p:nvSpPr>
        <p:spPr>
          <a:xfrm>
            <a:off x="3646170" y="2171700"/>
            <a:ext cx="0" cy="6096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B7C1A2-D5B4-448A-9BA5-9311328BD68A}"/>
              </a:ext>
            </a:extLst>
          </p:cNvPr>
          <p:cNvSpPr>
            <a:spLocks noGrp="1"/>
          </p:cNvSpPr>
          <p:nvPr/>
        </p:nvSpPr>
        <p:spPr>
          <a:xfrm>
            <a:off x="3741420" y="2247900"/>
            <a:ext cx="393573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973" lnSpcReduction="10000"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아예 못 잡음. 단독으로는 안 온 것과 왔는데 못 본 것을 구분 못함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5C2D1D-8FA8-4ED1-BE13-AA26AFA14E17}"/>
              </a:ext>
            </a:extLst>
          </p:cNvPr>
          <p:cNvSpPr>
            <a:spLocks noGrp="1"/>
          </p:cNvSpPr>
          <p:nvPr/>
        </p:nvSpPr>
        <p:spPr>
          <a:xfrm>
            <a:off x="533400" y="2781300"/>
            <a:ext cx="723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2F8E1E-7805-4A8B-9890-CE5206056FB2}"/>
              </a:ext>
            </a:extLst>
          </p:cNvPr>
          <p:cNvSpPr>
            <a:spLocks noGrp="1"/>
          </p:cNvSpPr>
          <p:nvPr/>
        </p:nvSpPr>
        <p:spPr>
          <a:xfrm>
            <a:off x="628650" y="2857500"/>
            <a:ext cx="895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sfdto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C39BB14E-60EC-4825-A61C-FBA96D76F631}"/>
              </a:ext>
            </a:extLst>
          </p:cNvPr>
          <p:cNvSpPr>
            <a:spLocks noGrp="1"/>
          </p:cNvSpPr>
          <p:nvPr/>
        </p:nvSpPr>
        <p:spPr>
          <a:xfrm>
            <a:off x="1619250" y="2781300"/>
            <a:ext cx="0" cy="6096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65DF49-9E68-4D99-99DC-0D46646D3A7B}"/>
              </a:ext>
            </a:extLst>
          </p:cNvPr>
          <p:cNvSpPr>
            <a:spLocks noGrp="1"/>
          </p:cNvSpPr>
          <p:nvPr/>
        </p:nvSpPr>
        <p:spPr>
          <a:xfrm>
            <a:off x="1714500" y="2857500"/>
            <a:ext cx="183642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SFD 검출 실패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6C12834-95BD-4B10-B0E2-1D73C37A23DA}"/>
              </a:ext>
            </a:extLst>
          </p:cNvPr>
          <p:cNvSpPr>
            <a:spLocks noGrp="1"/>
          </p:cNvSpPr>
          <p:nvPr/>
        </p:nvSpPr>
        <p:spPr>
          <a:xfrm>
            <a:off x="3646170" y="2781300"/>
            <a:ext cx="0" cy="6096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E27087-F9E4-4016-916C-06A9A30C0907}"/>
              </a:ext>
            </a:extLst>
          </p:cNvPr>
          <p:cNvSpPr>
            <a:spLocks noGrp="1"/>
          </p:cNvSpPr>
          <p:nvPr/>
        </p:nvSpPr>
        <p:spPr>
          <a:xfrm>
            <a:off x="3741420" y="2857500"/>
            <a:ext cx="393573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preamble 후보는 잡았지만 SFD까지 안정적으로 못 감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D4AC03-BE67-40DF-98C0-1FED9307C9A3}"/>
              </a:ext>
            </a:extLst>
          </p:cNvPr>
          <p:cNvSpPr>
            <a:spLocks noGrp="1"/>
          </p:cNvSpPr>
          <p:nvPr/>
        </p:nvSpPr>
        <p:spPr>
          <a:xfrm>
            <a:off x="533400" y="3390900"/>
            <a:ext cx="7239000" cy="609600"/>
          </a:xfrm>
          <a:prstGeom prst="rect">
            <a:avLst/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A5D939-43C6-4F13-843A-2B2F2A9834D5}"/>
              </a:ext>
            </a:extLst>
          </p:cNvPr>
          <p:cNvSpPr>
            <a:spLocks noGrp="1"/>
          </p:cNvSpPr>
          <p:nvPr/>
        </p:nvSpPr>
        <p:spPr>
          <a:xfrm>
            <a:off x="628650" y="3467100"/>
            <a:ext cx="895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phe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1F8ECF5B-FD62-4108-94EC-5B021C485260}"/>
              </a:ext>
            </a:extLst>
          </p:cNvPr>
          <p:cNvSpPr>
            <a:spLocks noGrp="1"/>
          </p:cNvSpPr>
          <p:nvPr/>
        </p:nvSpPr>
        <p:spPr>
          <a:xfrm>
            <a:off x="1619250" y="3390900"/>
            <a:ext cx="0" cy="6096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5F8556-6A7B-453A-8A95-683AF3172ECC}"/>
              </a:ext>
            </a:extLst>
          </p:cNvPr>
          <p:cNvSpPr>
            <a:spLocks noGrp="1"/>
          </p:cNvSpPr>
          <p:nvPr/>
        </p:nvSpPr>
        <p:spPr>
          <a:xfrm>
            <a:off x="1714500" y="3467100"/>
            <a:ext cx="183642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PHR 해석 실패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4AA586B-679C-40C0-90CA-E918DE963005}"/>
              </a:ext>
            </a:extLst>
          </p:cNvPr>
          <p:cNvSpPr>
            <a:spLocks noGrp="1"/>
          </p:cNvSpPr>
          <p:nvPr/>
        </p:nvSpPr>
        <p:spPr>
          <a:xfrm>
            <a:off x="3646170" y="3390900"/>
            <a:ext cx="0" cy="6096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03D6B8-257E-4342-A2BA-180E03F6F402}"/>
              </a:ext>
            </a:extLst>
          </p:cNvPr>
          <p:cNvSpPr>
            <a:spLocks noGrp="1"/>
          </p:cNvSpPr>
          <p:nvPr/>
        </p:nvSpPr>
        <p:spPr>
          <a:xfrm>
            <a:off x="3741420" y="3467100"/>
            <a:ext cx="393573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SFD 이후 헤더 해석에서 깨짐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4859DD-DB82-4D7C-A0E3-E24F900D21A1}"/>
              </a:ext>
            </a:extLst>
          </p:cNvPr>
          <p:cNvSpPr>
            <a:spLocks noGrp="1"/>
          </p:cNvSpPr>
          <p:nvPr/>
        </p:nvSpPr>
        <p:spPr>
          <a:xfrm>
            <a:off x="533400" y="4000500"/>
            <a:ext cx="723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B4C6B5-C168-4DE5-A23C-061B49BD30F9}"/>
              </a:ext>
            </a:extLst>
          </p:cNvPr>
          <p:cNvSpPr>
            <a:spLocks noGrp="1"/>
          </p:cNvSpPr>
          <p:nvPr/>
        </p:nvSpPr>
        <p:spPr>
          <a:xfrm>
            <a:off x="628650" y="4076700"/>
            <a:ext cx="895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fsl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DFEA2C68-4E37-413C-96F1-0D0106799E46}"/>
              </a:ext>
            </a:extLst>
          </p:cNvPr>
          <p:cNvSpPr>
            <a:spLocks noGrp="1"/>
          </p:cNvSpPr>
          <p:nvPr/>
        </p:nvSpPr>
        <p:spPr>
          <a:xfrm>
            <a:off x="1619250" y="4000500"/>
            <a:ext cx="0" cy="6096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ACA9FD-6E5A-4451-A080-79BCBB177676}"/>
              </a:ext>
            </a:extLst>
          </p:cNvPr>
          <p:cNvSpPr>
            <a:spLocks noGrp="1"/>
          </p:cNvSpPr>
          <p:nvPr/>
        </p:nvSpPr>
        <p:spPr>
          <a:xfrm>
            <a:off x="1714500" y="4076700"/>
            <a:ext cx="183642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동기 유지 실패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4CAD0DCB-4EC2-4B05-A454-7F93036B20F7}"/>
              </a:ext>
            </a:extLst>
          </p:cNvPr>
          <p:cNvSpPr>
            <a:spLocks noGrp="1"/>
          </p:cNvSpPr>
          <p:nvPr/>
        </p:nvSpPr>
        <p:spPr>
          <a:xfrm>
            <a:off x="3646170" y="4000500"/>
            <a:ext cx="0" cy="6096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A67E82-CC96-4591-AFB5-C8B2A6551DCE}"/>
              </a:ext>
            </a:extLst>
          </p:cNvPr>
          <p:cNvSpPr>
            <a:spLocks noGrp="1"/>
          </p:cNvSpPr>
          <p:nvPr/>
        </p:nvSpPr>
        <p:spPr>
          <a:xfrm>
            <a:off x="3741420" y="4076700"/>
            <a:ext cx="393573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동기 잡은 뒤 프레임 진행 중 sync quality가 무너짐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9408D4-01DD-4545-988F-E625CC1707B9}"/>
              </a:ext>
            </a:extLst>
          </p:cNvPr>
          <p:cNvSpPr>
            <a:spLocks noGrp="1"/>
          </p:cNvSpPr>
          <p:nvPr/>
        </p:nvSpPr>
        <p:spPr>
          <a:xfrm>
            <a:off x="533400" y="4610100"/>
            <a:ext cx="7239000" cy="609600"/>
          </a:xfrm>
          <a:prstGeom prst="rect">
            <a:avLst/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1A29BD-FAB5-4FC7-A3C8-2781053A4BDA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895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fce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25D0C46A-AE05-4C55-8D90-DB40AB2CAF30}"/>
              </a:ext>
            </a:extLst>
          </p:cNvPr>
          <p:cNvSpPr>
            <a:spLocks noGrp="1"/>
          </p:cNvSpPr>
          <p:nvPr/>
        </p:nvSpPr>
        <p:spPr>
          <a:xfrm>
            <a:off x="1619250" y="4610100"/>
            <a:ext cx="0" cy="6096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239F88-5467-43EF-9227-5E44E2BD55E2}"/>
              </a:ext>
            </a:extLst>
          </p:cNvPr>
          <p:cNvSpPr>
            <a:spLocks noGrp="1"/>
          </p:cNvSpPr>
          <p:nvPr/>
        </p:nvSpPr>
        <p:spPr>
          <a:xfrm>
            <a:off x="1714500" y="4686300"/>
            <a:ext cx="183642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CRC 실패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AC693332-B90A-483A-A17C-F00C582A5700}"/>
              </a:ext>
            </a:extLst>
          </p:cNvPr>
          <p:cNvSpPr>
            <a:spLocks noGrp="1"/>
          </p:cNvSpPr>
          <p:nvPr/>
        </p:nvSpPr>
        <p:spPr>
          <a:xfrm>
            <a:off x="3646170" y="4610100"/>
            <a:ext cx="0" cy="60960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A6C8DAE-EA72-42C8-B5E1-A712AF624CF4}"/>
              </a:ext>
            </a:extLst>
          </p:cNvPr>
          <p:cNvSpPr>
            <a:spLocks noGrp="1"/>
          </p:cNvSpPr>
          <p:nvPr/>
        </p:nvSpPr>
        <p:spPr>
          <a:xfrm>
            <a:off x="3741420" y="4686300"/>
            <a:ext cx="393573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payload까지 왔지만 오류. tail 부족이면 이쪽 가능성이 큼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5C211D2-9F56-4827-9244-4D52123A7EE0}"/>
              </a:ext>
            </a:extLst>
          </p:cNvPr>
          <p:cNvSpPr>
            <a:spLocks noGrp="1"/>
          </p:cNvSpPr>
          <p:nvPr/>
        </p:nvSpPr>
        <p:spPr>
          <a:xfrm>
            <a:off x="8176436" y="1562099"/>
            <a:ext cx="3139263" cy="3981443"/>
          </a:xfrm>
          <a:prstGeom prst="rect">
            <a:avLst/>
          </a:prstGeom>
          <a:solidFill>
            <a:srgbClr val="E8F2FB"/>
          </a:solidFill>
          <a:ln w="9525">
            <a:solidFill>
              <a:srgbClr val="BCD7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4AD09C-10AF-400F-8618-C3DBAC86942B}"/>
              </a:ext>
            </a:extLst>
          </p:cNvPr>
          <p:cNvSpPr>
            <a:spLocks noGrp="1"/>
          </p:cNvSpPr>
          <p:nvPr/>
        </p:nvSpPr>
        <p:spPr>
          <a:xfrm>
            <a:off x="8477250" y="18669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rPr>
              <a:t>lead sweep 읽는 법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C37BC9-E5D2-4AB6-922D-10193F9448EA}"/>
              </a:ext>
            </a:extLst>
          </p:cNvPr>
          <p:cNvSpPr>
            <a:spLocks noGrp="1"/>
          </p:cNvSpPr>
          <p:nvPr/>
        </p:nvSpPr>
        <p:spPr>
          <a:xfrm>
            <a:off x="8477250" y="2343150"/>
            <a:ext cx="23812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0/2/4us: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전부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fwto</a:t>
            </a:r>
            <a:endParaRPr sz="15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검출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단계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실패</a:t>
            </a:r>
            <a:endParaRPr sz="15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endParaRPr sz="15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6us: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sfdto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fsl</a:t>
            </a:r>
            <a:endParaRPr sz="15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→ SFD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진입</a:t>
            </a:r>
            <a:endParaRPr sz="15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endParaRPr sz="15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10us: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phe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fsl</a:t>
            </a:r>
            <a:endParaRPr sz="15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검출은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됐지만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헤더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동기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유지가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약함</a:t>
            </a:r>
            <a:endParaRPr sz="15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endParaRPr sz="15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15us: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다시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혼합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에러</a:t>
            </a:r>
            <a:endParaRPr sz="15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→ PAC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위상이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불리한</a:t>
            </a:r>
            <a:r>
              <a:rPr sz="15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위치</a:t>
            </a:r>
            <a:endParaRPr sz="15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70B0B5-AEED-4C1C-B750-88005BB32D6A}"/>
              </a:ext>
            </a:extLst>
          </p:cNvPr>
          <p:cNvSpPr>
            <a:spLocks noGrp="1"/>
          </p:cNvSpPr>
          <p:nvPr/>
        </p:nvSpPr>
        <p:spPr>
          <a:xfrm>
            <a:off x="857250" y="5638800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lnSpc>
                <a:spcPct val="118000"/>
              </a:lnSpc>
              <a:buNone/>
              <a:defRPr sz="1875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rPr>
              <a:t>핵심: fce가 거의 없으므로 tail 부족보다는 preamble/SFD 획득 문제가 더 자연스럽다.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95DCEEE-5F33-498D-859A-2E586E6C75AE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lnSpc>
                <a:spcPct val="118000"/>
              </a:lnSpc>
              <a:buNone/>
              <a:def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22017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B9C1710-EE29-47CA-B122-FD1755F18B51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 분석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BF84ED-1009-4DC0-87FB-0F8C1F1C8061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accumCount는 검출 소모량이 거의 일정함을 가리킨다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9BB6838-E259-49CF-BBEE-C8831B78A403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81A2C1-A8BC-46AD-A4A8-4283865C9E52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정의:  프리앰블 검출 소모량 = Npre - accumCount 최빈값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741512-9AA6-4116-AF77-EF5186CFB3F5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7620000" cy="59055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52836D-36CB-4120-A9F9-BAB55961BEC2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1028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plen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02530D9-6F45-46C1-86F7-38098E4D7A07}"/>
              </a:ext>
            </a:extLst>
          </p:cNvPr>
          <p:cNvSpPr>
            <a:spLocks noGrp="1"/>
          </p:cNvSpPr>
          <p:nvPr/>
        </p:nvSpPr>
        <p:spPr>
          <a:xfrm>
            <a:off x="1885950" y="200025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D03E0F-A55E-43CF-B329-931108AB7F58}"/>
              </a:ext>
            </a:extLst>
          </p:cNvPr>
          <p:cNvSpPr>
            <a:spLocks noGrp="1"/>
          </p:cNvSpPr>
          <p:nvPr/>
        </p:nvSpPr>
        <p:spPr>
          <a:xfrm>
            <a:off x="1981200" y="2076450"/>
            <a:ext cx="1485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CIR_CSV n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C85E3B8-F63B-43C6-BFA6-468288DDF96D}"/>
              </a:ext>
            </a:extLst>
          </p:cNvPr>
          <p:cNvSpPr>
            <a:spLocks noGrp="1"/>
          </p:cNvSpPr>
          <p:nvPr/>
        </p:nvSpPr>
        <p:spPr>
          <a:xfrm>
            <a:off x="3562350" y="200025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27AE5E-D9D4-4F60-9E3D-0F41E349D722}"/>
              </a:ext>
            </a:extLst>
          </p:cNvPr>
          <p:cNvSpPr>
            <a:spLocks noGrp="1"/>
          </p:cNvSpPr>
          <p:nvPr/>
        </p:nvSpPr>
        <p:spPr>
          <a:xfrm>
            <a:off x="3657600" y="2076450"/>
            <a:ext cx="224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accumCount 최빈값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90F35E2-F446-440C-82A7-4FBF9D88C778}"/>
              </a:ext>
            </a:extLst>
          </p:cNvPr>
          <p:cNvSpPr>
            <a:spLocks noGrp="1"/>
          </p:cNvSpPr>
          <p:nvPr/>
        </p:nvSpPr>
        <p:spPr>
          <a:xfrm>
            <a:off x="6000750" y="200025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E4117E-272B-4A67-8E83-21A9A7C7263D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검출 소모량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368D98-221F-4095-9059-6084690A9E34}"/>
              </a:ext>
            </a:extLst>
          </p:cNvPr>
          <p:cNvSpPr>
            <a:spLocks noGrp="1"/>
          </p:cNvSpPr>
          <p:nvPr/>
        </p:nvSpPr>
        <p:spPr>
          <a:xfrm>
            <a:off x="666750" y="2590800"/>
            <a:ext cx="7620000" cy="590550"/>
          </a:xfrm>
          <a:prstGeom prst="rect">
            <a:avLst/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8591F5-676A-4E30-A65E-DDC7FE69AE83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1028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9F0C079-8687-41D9-B8D0-AEA3DFB12355}"/>
              </a:ext>
            </a:extLst>
          </p:cNvPr>
          <p:cNvSpPr>
            <a:spLocks noGrp="1"/>
          </p:cNvSpPr>
          <p:nvPr/>
        </p:nvSpPr>
        <p:spPr>
          <a:xfrm>
            <a:off x="1885950" y="259080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C53EE0-F94E-4837-82D9-02054988F010}"/>
              </a:ext>
            </a:extLst>
          </p:cNvPr>
          <p:cNvSpPr>
            <a:spLocks noGrp="1"/>
          </p:cNvSpPr>
          <p:nvPr/>
        </p:nvSpPr>
        <p:spPr>
          <a:xfrm>
            <a:off x="1981200" y="2667000"/>
            <a:ext cx="1485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64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4444342-0466-4673-BCFD-F8F4F002E5FF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444087-447C-47AC-B9DE-AB959114FC4E}"/>
              </a:ext>
            </a:extLst>
          </p:cNvPr>
          <p:cNvSpPr>
            <a:spLocks noGrp="1"/>
          </p:cNvSpPr>
          <p:nvPr/>
        </p:nvSpPr>
        <p:spPr>
          <a:xfrm>
            <a:off x="3657600" y="2667000"/>
            <a:ext cx="224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48A50D-C1CD-4C11-A10E-C9B1BB3D9D5E}"/>
              </a:ext>
            </a:extLst>
          </p:cNvPr>
          <p:cNvSpPr>
            <a:spLocks noGrp="1"/>
          </p:cNvSpPr>
          <p:nvPr/>
        </p:nvSpPr>
        <p:spPr>
          <a:xfrm>
            <a:off x="6000750" y="259080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D1DF5F-8DC1-4EEA-8405-07B93ED82E29}"/>
              </a:ext>
            </a:extLst>
          </p:cNvPr>
          <p:cNvSpPr>
            <a:spLocks noGrp="1"/>
          </p:cNvSpPr>
          <p:nvPr/>
        </p:nvSpPr>
        <p:spPr>
          <a:xfrm>
            <a:off x="6096000" y="26670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rPr>
              <a:t>20 sym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D43982-A22E-41A6-BDDC-DB2FF152C630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7620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B1592A-B3BC-4A00-A50F-F325F42E8A3B}"/>
              </a:ext>
            </a:extLst>
          </p:cNvPr>
          <p:cNvSpPr>
            <a:spLocks noGrp="1"/>
          </p:cNvSpPr>
          <p:nvPr/>
        </p:nvSpPr>
        <p:spPr>
          <a:xfrm>
            <a:off x="762000" y="3257550"/>
            <a:ext cx="1028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64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75215BBB-1E0A-405F-9CC2-47D4B29B1797}"/>
              </a:ext>
            </a:extLst>
          </p:cNvPr>
          <p:cNvSpPr>
            <a:spLocks noGrp="1"/>
          </p:cNvSpPr>
          <p:nvPr/>
        </p:nvSpPr>
        <p:spPr>
          <a:xfrm>
            <a:off x="1885950" y="318135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7A978F-0CD1-4ABF-97C1-84D9C62C8F90}"/>
              </a:ext>
            </a:extLst>
          </p:cNvPr>
          <p:cNvSpPr>
            <a:spLocks noGrp="1"/>
          </p:cNvSpPr>
          <p:nvPr/>
        </p:nvSpPr>
        <p:spPr>
          <a:xfrm>
            <a:off x="1981200" y="3257550"/>
            <a:ext cx="1485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96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54D61531-2025-40C5-A450-4918A4755561}"/>
              </a:ext>
            </a:extLst>
          </p:cNvPr>
          <p:cNvSpPr>
            <a:spLocks noGrp="1"/>
          </p:cNvSpPr>
          <p:nvPr/>
        </p:nvSpPr>
        <p:spPr>
          <a:xfrm>
            <a:off x="3562350" y="318135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E48CC0-C0F9-4917-9A25-1812E808B1D4}"/>
              </a:ext>
            </a:extLst>
          </p:cNvPr>
          <p:cNvSpPr>
            <a:spLocks noGrp="1"/>
          </p:cNvSpPr>
          <p:nvPr/>
        </p:nvSpPr>
        <p:spPr>
          <a:xfrm>
            <a:off x="3657600" y="3257550"/>
            <a:ext cx="224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45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31F5A8B9-0C3A-49FE-8CA8-8D9DEA61E6F0}"/>
              </a:ext>
            </a:extLst>
          </p:cNvPr>
          <p:cNvSpPr>
            <a:spLocks noGrp="1"/>
          </p:cNvSpPr>
          <p:nvPr/>
        </p:nvSpPr>
        <p:spPr>
          <a:xfrm>
            <a:off x="6000750" y="318135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59C354-9782-4186-B4A1-A43884A31541}"/>
              </a:ext>
            </a:extLst>
          </p:cNvPr>
          <p:cNvSpPr>
            <a:spLocks noGrp="1"/>
          </p:cNvSpPr>
          <p:nvPr/>
        </p:nvSpPr>
        <p:spPr>
          <a:xfrm>
            <a:off x="6096000" y="32575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rPr>
              <a:t>19 sym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0333DB-5163-4DF0-940F-D075ADB10AF7}"/>
              </a:ext>
            </a:extLst>
          </p:cNvPr>
          <p:cNvSpPr>
            <a:spLocks noGrp="1"/>
          </p:cNvSpPr>
          <p:nvPr/>
        </p:nvSpPr>
        <p:spPr>
          <a:xfrm>
            <a:off x="666750" y="3771900"/>
            <a:ext cx="7620000" cy="590550"/>
          </a:xfrm>
          <a:prstGeom prst="rect">
            <a:avLst/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1F61AA-AC9D-4D0E-91C9-136765A9B1EC}"/>
              </a:ext>
            </a:extLst>
          </p:cNvPr>
          <p:cNvSpPr>
            <a:spLocks noGrp="1"/>
          </p:cNvSpPr>
          <p:nvPr/>
        </p:nvSpPr>
        <p:spPr>
          <a:xfrm>
            <a:off x="762000" y="3848100"/>
            <a:ext cx="1028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128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31D1A32D-E023-4262-B416-6D16F7A29970}"/>
              </a:ext>
            </a:extLst>
          </p:cNvPr>
          <p:cNvSpPr>
            <a:spLocks noGrp="1"/>
          </p:cNvSpPr>
          <p:nvPr/>
        </p:nvSpPr>
        <p:spPr>
          <a:xfrm>
            <a:off x="1885950" y="377190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77E9A3-1AA6-43D6-BDCE-459B203F9F11}"/>
              </a:ext>
            </a:extLst>
          </p:cNvPr>
          <p:cNvSpPr>
            <a:spLocks noGrp="1"/>
          </p:cNvSpPr>
          <p:nvPr/>
        </p:nvSpPr>
        <p:spPr>
          <a:xfrm>
            <a:off x="1981200" y="3848100"/>
            <a:ext cx="1485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84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3ED193A2-120D-49FF-8191-B344A75A99E1}"/>
              </a:ext>
            </a:extLst>
          </p:cNvPr>
          <p:cNvSpPr>
            <a:spLocks noGrp="1"/>
          </p:cNvSpPr>
          <p:nvPr/>
        </p:nvSpPr>
        <p:spPr>
          <a:xfrm>
            <a:off x="3562350" y="377190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A0C87E-FDB6-43B5-99EB-86914A11367D}"/>
              </a:ext>
            </a:extLst>
          </p:cNvPr>
          <p:cNvSpPr>
            <a:spLocks noGrp="1"/>
          </p:cNvSpPr>
          <p:nvPr/>
        </p:nvSpPr>
        <p:spPr>
          <a:xfrm>
            <a:off x="3657600" y="3848100"/>
            <a:ext cx="224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109</a:t>
            </a:r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D0680005-A6D3-4085-BCC3-6FADD0E1EB2C}"/>
              </a:ext>
            </a:extLst>
          </p:cNvPr>
          <p:cNvSpPr>
            <a:spLocks noGrp="1"/>
          </p:cNvSpPr>
          <p:nvPr/>
        </p:nvSpPr>
        <p:spPr>
          <a:xfrm>
            <a:off x="6000750" y="377190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AC9FB5-E4B5-4D42-925A-A5EBD0115BE5}"/>
              </a:ext>
            </a:extLst>
          </p:cNvPr>
          <p:cNvSpPr>
            <a:spLocks noGrp="1"/>
          </p:cNvSpPr>
          <p:nvPr/>
        </p:nvSpPr>
        <p:spPr>
          <a:xfrm>
            <a:off x="6096000" y="38481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rPr>
              <a:t>19 sym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CE1C2D-6CE8-4F45-82FE-7B3BC1F70035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7620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45C35AE-823E-42A6-990A-237292B53AF5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1028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256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44F6D923-6E10-4D99-BBFB-C0E03A470738}"/>
              </a:ext>
            </a:extLst>
          </p:cNvPr>
          <p:cNvSpPr>
            <a:spLocks noGrp="1"/>
          </p:cNvSpPr>
          <p:nvPr/>
        </p:nvSpPr>
        <p:spPr>
          <a:xfrm>
            <a:off x="1885950" y="436245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1507702-6199-47EF-8794-9D9308A77666}"/>
              </a:ext>
            </a:extLst>
          </p:cNvPr>
          <p:cNvSpPr>
            <a:spLocks noGrp="1"/>
          </p:cNvSpPr>
          <p:nvPr/>
        </p:nvSpPr>
        <p:spPr>
          <a:xfrm>
            <a:off x="1981200" y="4438650"/>
            <a:ext cx="1485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72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9D95641C-F7DE-47DF-9709-4A64C726AB51}"/>
              </a:ext>
            </a:extLst>
          </p:cNvPr>
          <p:cNvSpPr>
            <a:spLocks noGrp="1"/>
          </p:cNvSpPr>
          <p:nvPr/>
        </p:nvSpPr>
        <p:spPr>
          <a:xfrm>
            <a:off x="3562350" y="436245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74E5F9-5FA8-407B-A150-84F90D2D21F2}"/>
              </a:ext>
            </a:extLst>
          </p:cNvPr>
          <p:cNvSpPr>
            <a:spLocks noGrp="1"/>
          </p:cNvSpPr>
          <p:nvPr/>
        </p:nvSpPr>
        <p:spPr>
          <a:xfrm>
            <a:off x="3657600" y="4438650"/>
            <a:ext cx="224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85793161-2D2F-4979-A893-3CEE0D89A9FA}"/>
              </a:ext>
            </a:extLst>
          </p:cNvPr>
          <p:cNvSpPr>
            <a:spLocks noGrp="1"/>
          </p:cNvSpPr>
          <p:nvPr/>
        </p:nvSpPr>
        <p:spPr>
          <a:xfrm>
            <a:off x="6000750" y="4362450"/>
            <a:ext cx="0" cy="5905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38824A3-84A5-4210-93AB-7FA2A0B9072C}"/>
              </a:ext>
            </a:extLst>
          </p:cNvPr>
          <p:cNvSpPr>
            <a:spLocks noGrp="1"/>
          </p:cNvSpPr>
          <p:nvPr/>
        </p:nvSpPr>
        <p:spPr>
          <a:xfrm>
            <a:off x="6096000" y="44386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rPr>
              <a:t>20 sym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6C9BC7-C221-4B9F-B054-73D0DB06FD87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2381250" cy="2952750"/>
          </a:xfrm>
          <a:prstGeom prst="rect">
            <a:avLst/>
          </a:prstGeom>
          <a:solidFill>
            <a:srgbClr val="FFF0D7"/>
          </a:solidFill>
          <a:ln w="9525">
            <a:solidFill>
              <a:srgbClr val="F2C77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F8B24FE-AC14-435A-8A90-36F326502C6D}"/>
              </a:ext>
            </a:extLst>
          </p:cNvPr>
          <p:cNvSpPr>
            <a:spLocks noGrp="1"/>
          </p:cNvSpPr>
          <p:nvPr/>
        </p:nvSpPr>
        <p:spPr>
          <a:xfrm>
            <a:off x="9048750" y="2266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F299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2991D"/>
                </a:solidFill>
                <a:latin typeface="Apple SD Gothic Neo"/>
                <a:ea typeface="Apple SD Gothic Neo"/>
                <a:cs typeface="Apple SD Gothic Neo"/>
              </a:rPr>
              <a:t>중요한 단서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1E146A6-F237-4F52-956A-618D155C005C}"/>
              </a:ext>
            </a:extLst>
          </p:cNvPr>
          <p:cNvSpPr>
            <a:spLocks noGrp="1"/>
          </p:cNvSpPr>
          <p:nvPr/>
        </p:nvSpPr>
        <p:spPr>
          <a:xfrm>
            <a:off x="9048750" y="2781300"/>
            <a:ext cx="1809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4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plen이 커져도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Npre - accumMode는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19~20sym.</a:t>
            </a:r>
          </a:p>
          <a:p>
            <a:endParaRPr sz="1800" b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검출 비용이 거의 고정비처럼 보임.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1860943-CDB5-4E7C-8C78-AD3388FC0836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lnSpc>
                <a:spcPct val="118000"/>
              </a:lnSpc>
              <a:buNone/>
              <a:def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92763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F671E9-4834-4289-8F61-DCA0882BFC73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 분석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5CE950-F4D9-4E6B-8FBB-388D8B578FA0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32sym은 고정 검출 비용과 turn-on gap을 감당할 여유가 작다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B007E22-8808-4E01-AF88-50F4C0ED2BAD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C21A23-DB5B-41EA-9B77-17DE3D7D814E}"/>
              </a:ext>
            </a:extLst>
          </p:cNvPr>
          <p:cNvSpPr>
            <a:spLocks noGrp="1"/>
          </p:cNvSpPr>
          <p:nvPr/>
        </p:nvSpPr>
        <p:spPr>
          <a:xfrm>
            <a:off x="762000" y="1619249"/>
            <a:ext cx="4953000" cy="3665103"/>
          </a:xfrm>
          <a:prstGeom prst="rect">
            <a:avLst/>
          </a:prstGeom>
          <a:solidFill>
            <a:srgbClr val="F3F4F6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1044D1-47D2-4F90-ADF8-109CEFEDBC4A}"/>
              </a:ext>
            </a:extLst>
          </p:cNvPr>
          <p:cNvSpPr>
            <a:spLocks noGrp="1"/>
          </p:cNvSpPr>
          <p:nvPr/>
        </p:nvSpPr>
        <p:spPr>
          <a:xfrm>
            <a:off x="1047750" y="19050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간단 모델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3C8BEC-9385-45EE-872E-559A68797AEC}"/>
              </a:ext>
            </a:extLst>
          </p:cNvPr>
          <p:cNvSpPr>
            <a:spLocks noGrp="1"/>
          </p:cNvSpPr>
          <p:nvPr/>
        </p:nvSpPr>
        <p:spPr>
          <a:xfrm>
            <a:off x="1047750" y="2400299"/>
            <a:ext cx="4305300" cy="27245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4000"/>
              </a:lnSpc>
              <a:buNone/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유효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누산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구간</a:t>
            </a:r>
            <a:endParaRPr sz="18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4000"/>
              </a:lnSpc>
              <a:buNone/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≈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Npre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-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검출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소모량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-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늦게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들어간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심볼</a:t>
            </a:r>
            <a:endParaRPr sz="18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endParaRPr sz="18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4000"/>
              </a:lnSpc>
              <a:buNone/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검출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소모량이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약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20sym으로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고정이면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,</a:t>
            </a:r>
          </a:p>
          <a:p>
            <a:pPr algn="l">
              <a:lnSpc>
                <a:spcPct val="114000"/>
              </a:lnSpc>
              <a:buNone/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32sym은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남는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preamble이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매우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작아진다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endParaRPr sz="187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4000"/>
              </a:lnSpc>
              <a:buNone/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64sym부터는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같은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비용을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치러도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뒤쪽에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충분한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preamble이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남는다</a:t>
            </a:r>
            <a:r>
              <a:rPr sz="187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BE541-41EB-46FC-80D8-F0476110F9C3}"/>
              </a:ext>
            </a:extLst>
          </p:cNvPr>
          <p:cNvSpPr>
            <a:spLocks noGrp="1"/>
          </p:cNvSpPr>
          <p:nvPr/>
        </p:nvSpPr>
        <p:spPr>
          <a:xfrm>
            <a:off x="6286500" y="1619249"/>
            <a:ext cx="4762500" cy="3665091"/>
          </a:xfrm>
          <a:prstGeom prst="rect">
            <a:avLst/>
          </a:prstGeom>
          <a:solidFill>
            <a:srgbClr val="E8F2FB"/>
          </a:solidFill>
          <a:ln w="9525">
            <a:solidFill>
              <a:srgbClr val="BCD7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1E2A24-6C61-47EE-A69F-F5DAA89EB3C0}"/>
              </a:ext>
            </a:extLst>
          </p:cNvPr>
          <p:cNvSpPr>
            <a:spLocks noGrp="1"/>
          </p:cNvSpPr>
          <p:nvPr/>
        </p:nvSpPr>
        <p:spPr>
          <a:xfrm>
            <a:off x="6591300" y="19050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rPr>
              <a:t>실험에서 보인 현상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E987D1-FABB-4032-9D8C-6B0748D14560}"/>
              </a:ext>
            </a:extLst>
          </p:cNvPr>
          <p:cNvSpPr>
            <a:spLocks noGrp="1"/>
          </p:cNvSpPr>
          <p:nvPr/>
        </p:nvSpPr>
        <p:spPr>
          <a:xfrm>
            <a:off x="6591300" y="2419350"/>
            <a:ext cx="3905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20000"/>
              </a:lnSpc>
              <a:buNone/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lead 2/4us: 전부 FWTO, 검출 자체 실패</a:t>
            </a:r>
          </a:p>
          <a:p>
            <a:pPr algn="l">
              <a:lnSpc>
                <a:spcPct val="120000"/>
              </a:lnSpc>
              <a:buNone/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lead 6us: 수신 프레임 등장, accum=8</a:t>
            </a:r>
          </a:p>
          <a:p>
            <a:pPr algn="l">
              <a:lnSpc>
                <a:spcPct val="120000"/>
              </a:lnSpc>
              <a:buNone/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lead 12/20us: PER 0%, accum=14</a:t>
            </a:r>
          </a:p>
          <a:p>
            <a:pPr algn="l">
              <a:lnSpc>
                <a:spcPct val="120000"/>
              </a:lnSpc>
              <a:buNone/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lead 14us: accum 8/16 양봉 가능성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E9484F-6DE7-4B2B-AE17-60A56FD85C85}"/>
              </a:ext>
            </a:extLst>
          </p:cNvPr>
          <p:cNvSpPr>
            <a:spLocks noGrp="1"/>
          </p:cNvSpPr>
          <p:nvPr/>
        </p:nvSpPr>
        <p:spPr>
          <a:xfrm>
            <a:off x="876300" y="539115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lnSpc>
                <a:spcPct val="118000"/>
              </a:lnSpc>
              <a:buNone/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그래서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32sym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실패는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“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preamble이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아예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안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왔다”가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“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너무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늦게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듣기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시작해서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검출에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필요한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앞부분을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잃었다”로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보는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것이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더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자연스럽다</a:t>
            </a:r>
            <a:r>
              <a:rPr sz="1950" b="1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D8561C-6F44-4B67-928C-63691253A0AF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lnSpc>
                <a:spcPct val="118000"/>
              </a:lnSpc>
              <a:buNone/>
              <a:def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15811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0523D4-41FA-419C-8538-D8A9B7B5D26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 분석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7DD5A1-60A0-4D05-BCBB-29563C432F3E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 sweep에서는 PAC8 주기성이 보인다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E8FC181-8888-4D98-9A2F-6393E32E3C5E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453161"/>
            <a:ext cx="7200900" cy="452317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236EBD-4B8C-42D5-9B80-EDDB869FEEF2}"/>
              </a:ext>
            </a:extLst>
          </p:cNvPr>
          <p:cNvSpPr>
            <a:spLocks noGrp="1"/>
          </p:cNvSpPr>
          <p:nvPr/>
        </p:nvSpPr>
        <p:spPr>
          <a:xfrm>
            <a:off x="8191500" y="1543049"/>
            <a:ext cx="2952750" cy="4705331"/>
          </a:xfrm>
          <a:prstGeom prst="rect">
            <a:avLst/>
          </a:prstGeom>
          <a:solidFill>
            <a:srgbClr val="F3F4F6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3BF665-DA15-4166-B981-3BCBC7E1C934}"/>
              </a:ext>
            </a:extLst>
          </p:cNvPr>
          <p:cNvSpPr>
            <a:spLocks noGrp="1"/>
          </p:cNvSpPr>
          <p:nvPr/>
        </p:nvSpPr>
        <p:spPr>
          <a:xfrm>
            <a:off x="8477250" y="18478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읽는 법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409A22-3590-4B28-B20A-9E7885D0AA5D}"/>
              </a:ext>
            </a:extLst>
          </p:cNvPr>
          <p:cNvSpPr>
            <a:spLocks noGrp="1"/>
          </p:cNvSpPr>
          <p:nvPr/>
        </p:nvSpPr>
        <p:spPr>
          <a:xfrm>
            <a:off x="8477250" y="2343150"/>
            <a:ext cx="23812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1. lead 0~4us는 FWTO 1000회로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전멸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r>
              <a:rPr lang="en-KR"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1725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  <a:r>
              <a:rPr lang="ko-KR" altLang="en-US" sz="1725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기동지연 시간이 존재</a:t>
            </a:r>
            <a:endParaRPr sz="172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endParaRPr sz="172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6000"/>
              </a:lnSpc>
              <a:buNone/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2. lead 6us부터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수신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프레임이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생김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endParaRPr sz="1725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6000"/>
              </a:lnSpc>
              <a:buNone/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3.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accumCount는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8.14us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근처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주기로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다시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낮아짐</a:t>
            </a:r>
            <a:r>
              <a:rPr sz="1725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A4DEBA-9FF2-4183-B481-A400A1F51081}"/>
              </a:ext>
            </a:extLst>
          </p:cNvPr>
          <p:cNvSpPr>
            <a:spLocks noGrp="1"/>
          </p:cNvSpPr>
          <p:nvPr/>
        </p:nvSpPr>
        <p:spPr>
          <a:xfrm>
            <a:off x="8477250" y="50292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0000"/>
              </a:lnSpc>
              <a:buNone/>
              <a:defRPr sz="150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rPr>
              <a:t>해석: lead는 RX_ON뿐 아니라 PAC grid와 preamble의 상대 위상도 바꾼다.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8743FC-004A-4EB4-B171-916035315E2A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lnSpc>
                <a:spcPct val="118000"/>
              </a:lnSpc>
              <a:buNone/>
              <a:def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75546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10306F-917F-4F12-8ECC-7C605A8932DB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 분석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B55E41-C50D-462C-BD52-35712AF83D87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초기 시간축 그림은 lead가 만드는 여유를 보여준다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E221503-31C5-4C3F-921F-C1F4BE5D0FE2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59560" y="1428750"/>
            <a:ext cx="5491480" cy="4476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E2CE66-88F8-46FA-BF29-9FF43AD1525C}"/>
              </a:ext>
            </a:extLst>
          </p:cNvPr>
          <p:cNvSpPr>
            <a:spLocks noGrp="1"/>
          </p:cNvSpPr>
          <p:nvPr/>
        </p:nvSpPr>
        <p:spPr>
          <a:xfrm>
            <a:off x="8458200" y="1524000"/>
            <a:ext cx="2781300" cy="3714750"/>
          </a:xfrm>
          <a:prstGeom prst="rect">
            <a:avLst/>
          </a:prstGeom>
          <a:solidFill>
            <a:srgbClr val="F3F4F6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FBE078-84F2-4714-B53A-25196A5BDA14}"/>
              </a:ext>
            </a:extLst>
          </p:cNvPr>
          <p:cNvSpPr>
            <a:spLocks noGrp="1"/>
          </p:cNvSpPr>
          <p:nvPr/>
        </p:nvSpPr>
        <p:spPr>
          <a:xfrm>
            <a:off x="8743950" y="1828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 그림의 역할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20D5FE-DB46-4326-ACBE-016CDF03CBA4}"/>
              </a:ext>
            </a:extLst>
          </p:cNvPr>
          <p:cNvSpPr>
            <a:spLocks noGrp="1"/>
          </p:cNvSpPr>
          <p:nvPr/>
        </p:nvSpPr>
        <p:spPr>
          <a:xfrm>
            <a:off x="8743950" y="2324100"/>
            <a:ext cx="2190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1. 32sym, lead=0은 검출 비용을 치르기 전에 preamble이 부족하다.</a:t>
            </a:r>
          </a:p>
          <a:p>
            <a:endParaRPr sz="1500" b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0000"/>
              </a:lnSpc>
              <a:buNone/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2. 32sym, lead=20us는 RX가 먼저 켜져 누산 구간이 생긴다.</a:t>
            </a:r>
          </a:p>
          <a:p>
            <a:endParaRPr sz="1500" b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10000"/>
              </a:lnSpc>
              <a:buNone/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3. 64sym은 preamble 길이 자체가 버퍼가 된다.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0B0109-B749-4373-AD01-821A4F4FAC72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lnSpc>
                <a:spcPct val="118000"/>
              </a:lnSpc>
              <a:buNone/>
              <a:def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10942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FC12E5-742A-437B-9E47-D00E917E98E6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 분석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57C852-D02C-4F25-9311-A3F788D2AD5F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PAC grid는 실제 listen start에 정렬되는 것으로 보인다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371D747-6C79-4726-AB8D-BDBE6FD76581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4128" y="1466850"/>
            <a:ext cx="7226243" cy="4629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66F501-5CCF-4FAF-ACF9-3739B16D9239}"/>
              </a:ext>
            </a:extLst>
          </p:cNvPr>
          <p:cNvSpPr>
            <a:spLocks noGrp="1"/>
          </p:cNvSpPr>
          <p:nvPr/>
        </p:nvSpPr>
        <p:spPr>
          <a:xfrm>
            <a:off x="9239250" y="1562100"/>
            <a:ext cx="2286000" cy="4114800"/>
          </a:xfrm>
          <a:prstGeom prst="rect">
            <a:avLst/>
          </a:prstGeom>
          <a:solidFill>
            <a:srgbClr val="EAF4DD"/>
          </a:solidFill>
          <a:ln w="9525">
            <a:solidFill>
              <a:srgbClr val="BEDAA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B64668-E541-46AB-BDD7-06B188107176}"/>
              </a:ext>
            </a:extLst>
          </p:cNvPr>
          <p:cNvSpPr>
            <a:spLocks noGrp="1"/>
          </p:cNvSpPr>
          <p:nvPr/>
        </p:nvSpPr>
        <p:spPr>
          <a:xfrm>
            <a:off x="9525000" y="18669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5B8F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B8F22"/>
                </a:solidFill>
                <a:latin typeface="Apple SD Gothic Neo"/>
                <a:ea typeface="Apple SD Gothic Neo"/>
                <a:cs typeface="Apple SD Gothic Neo"/>
              </a:rPr>
              <a:t>핵심 해석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575B7D-A578-4D5C-84CB-ACA232BB262C}"/>
              </a:ext>
            </a:extLst>
          </p:cNvPr>
          <p:cNvSpPr>
            <a:spLocks noGrp="1"/>
          </p:cNvSpPr>
          <p:nvPr/>
        </p:nvSpPr>
        <p:spPr>
          <a:xfrm>
            <a:off x="9525000" y="2381250"/>
            <a:ext cx="1714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listen start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= RX_ON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명령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δ</a:t>
            </a:r>
            <a:endParaRPr sz="150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endParaRPr sz="150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δ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≈ 11.3us</a:t>
            </a:r>
          </a:p>
          <a:p>
            <a:endParaRPr sz="150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lead가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grid를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밀면서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첫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PAC의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유효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무효가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바뀐다</a:t>
            </a: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endParaRPr sz="150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 10us: t=0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근처</a:t>
            </a:r>
            <a:endParaRPr sz="150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dirty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 14us: PAC </a:t>
            </a:r>
            <a:r>
              <a:rPr sz="1500" b="0" dirty="0" err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  <a:endParaRPr sz="1500" b="0" dirty="0">
              <a:solidFill>
                <a:srgbClr val="11111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39E2ED-6EC7-46B4-A348-28397AABF87B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lnSpc>
                <a:spcPct val="118000"/>
              </a:lnSpc>
              <a:buNone/>
              <a:def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75857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72E81B-EA30-421E-94BC-0A5AD59C1C09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BRRS delayed-RX 분석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7DBC35-C852-4E71-B8BB-E86FF0337F46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결론: tail보다 lead와 PAC 정렬이 핵심이다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BF98D29-91AF-40D5-870A-6E03CFAFA0E1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45C45C-E2C4-4B0E-8332-041C0A310272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보고 가능한 결론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85E01C-3A2F-4A74-A98B-F18DC13833E0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6667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UWB offset이 고정되어 있어 프레임 도착 지터는 작았다.</a:t>
            </a:r>
          </a:p>
          <a:p>
            <a:pPr algn="l">
              <a:lnSpc>
                <a:spcPct val="116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tail-only가 아니라 lead-only에서 32sym이 살아났다.</a:t>
            </a:r>
          </a:p>
          <a:p>
            <a:pPr algn="l">
              <a:lnSpc>
                <a:spcPct val="116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accumCount는 검출 소모량이 약 20sym으로 거의 일정하다는 예비 증거를 준다.</a:t>
            </a:r>
          </a:p>
          <a:p>
            <a:pPr algn="l">
              <a:lnSpc>
                <a:spcPct val="116000"/>
              </a:lnSpc>
              <a:buNone/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lead sweep은 PAC8 주기성과 turn-on gap이 32sym 성능을 좌우한다는 해석을 뒷받침한다.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3B6796-2BD1-485C-B402-62F3933285C2}"/>
              </a:ext>
            </a:extLst>
          </p:cNvPr>
          <p:cNvSpPr>
            <a:spLocks noGrp="1"/>
          </p:cNvSpPr>
          <p:nvPr/>
        </p:nvSpPr>
        <p:spPr>
          <a:xfrm>
            <a:off x="7810500" y="15811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D947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D94747"/>
                </a:solidFill>
                <a:latin typeface="Apple SD Gothic Neo"/>
                <a:ea typeface="Apple SD Gothic Neo"/>
                <a:cs typeface="Apple SD Gothic Neo"/>
              </a:rPr>
              <a:t>아직 조심할 부분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82A13-9962-4113-BBFA-C1E301A7ECE6}"/>
              </a:ext>
            </a:extLst>
          </p:cNvPr>
          <p:cNvSpPr>
            <a:spLocks noGrp="1"/>
          </p:cNvSpPr>
          <p:nvPr/>
        </p:nvSpPr>
        <p:spPr>
          <a:xfrm>
            <a:off x="7810500" y="2038350"/>
            <a:ext cx="3238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7000"/>
              </a:lnSpc>
              <a:buNone/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Exp2 raw CSV는 1000개 재수집 필요</a:t>
            </a:r>
          </a:p>
          <a:p>
            <a:pPr algn="l">
              <a:lnSpc>
                <a:spcPct val="117000"/>
              </a:lnSpc>
              <a:buNone/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detection ~20sym은 실측 기반 모델이지 공식 고정값은 아님</a:t>
            </a:r>
          </a:p>
          <a:p>
            <a:pPr algn="l">
              <a:lnSpc>
                <a:spcPct val="117000"/>
              </a:lnSpc>
              <a:buNone/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digital acquisition 6us는 후보 설명으로만 사용</a:t>
            </a:r>
          </a:p>
          <a:p>
            <a:pPr algn="l">
              <a:lnSpc>
                <a:spcPct val="117000"/>
              </a:lnSpc>
              <a:buNone/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다른 환경에서 재현성 확인 필요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06851B-D817-4539-A418-0F5356B2BB0C}"/>
              </a:ext>
            </a:extLst>
          </p:cNvPr>
          <p:cNvSpPr>
            <a:spLocks noGrp="1"/>
          </p:cNvSpPr>
          <p:nvPr/>
        </p:nvSpPr>
        <p:spPr>
          <a:xfrm>
            <a:off x="723900" y="4762499"/>
            <a:ext cx="10382250" cy="1085391"/>
          </a:xfrm>
          <a:prstGeom prst="rect">
            <a:avLst/>
          </a:prstGeom>
          <a:solidFill>
            <a:srgbClr val="E8F2FB"/>
          </a:solidFill>
          <a:ln w="9525">
            <a:solidFill>
              <a:srgbClr val="BCD7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567CAA-C23B-4937-AD76-9B0801915615}"/>
              </a:ext>
            </a:extLst>
          </p:cNvPr>
          <p:cNvSpPr>
            <a:spLocks noGrp="1"/>
          </p:cNvSpPr>
          <p:nvPr/>
        </p:nvSpPr>
        <p:spPr>
          <a:xfrm>
            <a:off x="1104900" y="50292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C9"/>
                </a:solidFill>
                <a:latin typeface="Apple SD Gothic Neo"/>
                <a:ea typeface="Apple SD Gothic Neo"/>
                <a:cs typeface="Apple SD Gothic Neo"/>
              </a:rPr>
              <a:t>다음 액션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9F7355-AA3F-4BD5-AA81-7B7DA578A3B4}"/>
              </a:ext>
            </a:extLst>
          </p:cNvPr>
          <p:cNvSpPr>
            <a:spLocks noGrp="1"/>
          </p:cNvSpPr>
          <p:nvPr/>
        </p:nvSpPr>
        <p:spPr>
          <a:xfrm>
            <a:off x="2647950" y="49911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lead=100/tail=100 Exp2를 raw CIR_CSV 1000개 PASS 기준으로 재수집하고, lead 14us는 accum histogram으로 8/16 양봉 가설을 확인한다.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8F04F-C366-421F-8BCF-C88E750A2D7B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lnSpc>
                <a:spcPct val="118000"/>
              </a:lnSpc>
              <a:buNone/>
              <a:def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5B5B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255607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17330</TotalTime>
  <Words>1480</Words>
  <Application>Microsoft Macintosh PowerPoint</Application>
  <DocSecurity>0</DocSecurity>
  <PresentationFormat>Widescreen</PresentationFormat>
  <Paragraphs>262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Apple SD Gothic Neo</vt:lpstr>
      <vt:lpstr>Calibri</vt:lpstr>
      <vt:lpstr>Menlo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치언 송</cp:lastModifiedBy>
  <cp:revision>3</cp:revision>
  <dcterms:created xsi:type="dcterms:W3CDTF">2026-07-07T18:29:44Z</dcterms:created>
  <dcterms:modified xsi:type="dcterms:W3CDTF">2026-07-20T02:35:39Z</dcterms:modified>
</cp:coreProperties>
</file>